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61" r:id="rId3"/>
    <p:sldId id="267" r:id="rId4"/>
    <p:sldId id="268" r:id="rId5"/>
    <p:sldId id="266" r:id="rId6"/>
    <p:sldId id="262" r:id="rId7"/>
    <p:sldId id="263" r:id="rId8"/>
    <p:sldId id="264" r:id="rId9"/>
    <p:sldId id="265" r:id="rId10"/>
    <p:sldId id="270" r:id="rId11"/>
    <p:sldId id="273" r:id="rId12"/>
    <p:sldId id="274" r:id="rId13"/>
    <p:sldId id="271" r:id="rId14"/>
    <p:sldId id="277" r:id="rId15"/>
    <p:sldId id="279" r:id="rId16"/>
    <p:sldId id="280" r:id="rId17"/>
    <p:sldId id="281" r:id="rId18"/>
    <p:sldId id="282" r:id="rId19"/>
    <p:sldId id="283" r:id="rId20"/>
    <p:sldId id="275" r:id="rId21"/>
    <p:sldId id="257" r:id="rId22"/>
    <p:sldId id="258" r:id="rId23"/>
    <p:sldId id="259" r:id="rId24"/>
    <p:sldId id="260" r:id="rId25"/>
    <p:sldId id="278" r:id="rId26"/>
    <p:sldId id="284" r:id="rId27"/>
    <p:sldId id="285" r:id="rId28"/>
    <p:sldId id="286" r:id="rId29"/>
    <p:sldId id="287" r:id="rId30"/>
    <p:sldId id="28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27"/>
    <p:restoredTop sz="89575"/>
  </p:normalViewPr>
  <p:slideViewPr>
    <p:cSldViewPr snapToGrid="0">
      <p:cViewPr varScale="1">
        <p:scale>
          <a:sx n="96" d="100"/>
          <a:sy n="96" d="100"/>
        </p:scale>
        <p:origin x="184" y="5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A1690B-C13B-1044-A660-AFA626BBDAF0}" type="datetimeFigureOut">
              <a:rPr lang="en-US" smtClean="0"/>
              <a:t>4/29/25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11C96F-301A-094B-8E81-8CBC66A7A50C}" type="slidenum">
              <a:rPr lang="en-US" smtClean="0"/>
              <a:t>‹#›</a:t>
            </a:fld>
            <a:endParaRPr lang="en-US"/>
          </a:p>
        </p:txBody>
      </p:sp>
    </p:spTree>
    <p:extLst>
      <p:ext uri="{BB962C8B-B14F-4D97-AF65-F5344CB8AC3E}">
        <p14:creationId xmlns:p14="http://schemas.microsoft.com/office/powerpoint/2010/main" val="382506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me a favor, Arzaan, show me how to visualize all of this numeric data implementing a binary classifier that signifies a Coronary Artery Disease. Make sure you highlight correlations between each variable and the presence of CAD. You can’t, idiot.</a:t>
            </a:r>
          </a:p>
        </p:txBody>
      </p:sp>
      <p:sp>
        <p:nvSpPr>
          <p:cNvPr id="4" name="Slide Number Placeholder 3"/>
          <p:cNvSpPr>
            <a:spLocks noGrp="1"/>
          </p:cNvSpPr>
          <p:nvPr>
            <p:ph type="sldNum" sz="quarter" idx="5"/>
          </p:nvPr>
        </p:nvSpPr>
        <p:spPr/>
        <p:txBody>
          <a:bodyPr/>
          <a:lstStyle/>
          <a:p>
            <a:fld id="{E511C96F-301A-094B-8E81-8CBC66A7A50C}" type="slidenum">
              <a:rPr lang="en-US" smtClean="0"/>
              <a:t>2</a:t>
            </a:fld>
            <a:endParaRPr lang="en-US"/>
          </a:p>
        </p:txBody>
      </p:sp>
    </p:spTree>
    <p:extLst>
      <p:ext uri="{BB962C8B-B14F-4D97-AF65-F5344CB8AC3E}">
        <p14:creationId xmlns:p14="http://schemas.microsoft.com/office/powerpoint/2010/main" val="1107524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1007D-EB1A-9715-F6CF-76AA0DCBE1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95147E-6762-4DDF-DF2C-8B1B0B5EA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3A3315-9922-2807-4F0A-BEC8DB98EBBF}"/>
              </a:ext>
            </a:extLst>
          </p:cNvPr>
          <p:cNvSpPr>
            <a:spLocks noGrp="1"/>
          </p:cNvSpPr>
          <p:nvPr>
            <p:ph type="body" idx="1"/>
          </p:nvPr>
        </p:nvSpPr>
        <p:spPr/>
        <p:txBody>
          <a:bodyPr/>
          <a:lstStyle/>
          <a:p>
            <a:r>
              <a:rPr lang="en-US" dirty="0"/>
              <a:t>We want a way to visualize this data by dimension reduction. Then, we’ll be able to identify clusters. Hold on! A common problem with dimension reduction is the loss of explainability pertaining to the original feature space.</a:t>
            </a:r>
          </a:p>
        </p:txBody>
      </p:sp>
      <p:sp>
        <p:nvSpPr>
          <p:cNvPr id="4" name="Slide Number Placeholder 3">
            <a:extLst>
              <a:ext uri="{FF2B5EF4-FFF2-40B4-BE49-F238E27FC236}">
                <a16:creationId xmlns:a16="http://schemas.microsoft.com/office/drawing/2014/main" id="{E387FA76-4A81-7AB5-E2F8-D8D636AC9F21}"/>
              </a:ext>
            </a:extLst>
          </p:cNvPr>
          <p:cNvSpPr>
            <a:spLocks noGrp="1"/>
          </p:cNvSpPr>
          <p:nvPr>
            <p:ph type="sldNum" sz="quarter" idx="5"/>
          </p:nvPr>
        </p:nvSpPr>
        <p:spPr/>
        <p:txBody>
          <a:bodyPr/>
          <a:lstStyle/>
          <a:p>
            <a:fld id="{E511C96F-301A-094B-8E81-8CBC66A7A50C}" type="slidenum">
              <a:rPr lang="en-US" smtClean="0"/>
              <a:t>3</a:t>
            </a:fld>
            <a:endParaRPr lang="en-US"/>
          </a:p>
        </p:txBody>
      </p:sp>
    </p:spTree>
    <p:extLst>
      <p:ext uri="{BB962C8B-B14F-4D97-AF65-F5344CB8AC3E}">
        <p14:creationId xmlns:p14="http://schemas.microsoft.com/office/powerpoint/2010/main" val="33004423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8BDB4-930B-6192-7AE4-6E1D503B2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6A1198-7EF9-6177-05D5-27D6E8F94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825E15-A32A-5104-D367-E7D1E89086D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where DimVis -- the tool created in the paper I read -- comes into play.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want to reduce high dimensional classification based data into 2D and identify which features in from the high dimensional space contribute to clusters… that hopefully emerge. Now if classification based clusters don’t emerge, it’s not all useless… using EBM, we can still identify how (or which) original features determine where data is plotted after the dimension reduction method. </a:t>
            </a:r>
          </a:p>
        </p:txBody>
      </p:sp>
      <p:sp>
        <p:nvSpPr>
          <p:cNvPr id="4" name="Slide Number Placeholder 3">
            <a:extLst>
              <a:ext uri="{FF2B5EF4-FFF2-40B4-BE49-F238E27FC236}">
                <a16:creationId xmlns:a16="http://schemas.microsoft.com/office/drawing/2014/main" id="{2FA9A34F-673B-4B10-49C3-B611E8D3F720}"/>
              </a:ext>
            </a:extLst>
          </p:cNvPr>
          <p:cNvSpPr>
            <a:spLocks noGrp="1"/>
          </p:cNvSpPr>
          <p:nvPr>
            <p:ph type="sldNum" sz="quarter" idx="5"/>
          </p:nvPr>
        </p:nvSpPr>
        <p:spPr/>
        <p:txBody>
          <a:bodyPr/>
          <a:lstStyle/>
          <a:p>
            <a:fld id="{E511C96F-301A-094B-8E81-8CBC66A7A50C}" type="slidenum">
              <a:rPr lang="en-US" smtClean="0"/>
              <a:t>4</a:t>
            </a:fld>
            <a:endParaRPr lang="en-US"/>
          </a:p>
        </p:txBody>
      </p:sp>
    </p:spTree>
    <p:extLst>
      <p:ext uri="{BB962C8B-B14F-4D97-AF65-F5344CB8AC3E}">
        <p14:creationId xmlns:p14="http://schemas.microsoft.com/office/powerpoint/2010/main" val="2988631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minimize the difference between neighboring points in High Dimensional space and Low Dimensional space.</a:t>
            </a:r>
          </a:p>
          <a:p>
            <a:endParaRPr lang="en-US" dirty="0"/>
          </a:p>
          <a:p>
            <a:r>
              <a:rPr lang="en-US" dirty="0"/>
              <a:t>“Do nonlinear transformations that preserve the proximity of similar points”</a:t>
            </a:r>
          </a:p>
          <a:p>
            <a:endParaRPr lang="en-US" dirty="0"/>
          </a:p>
          <a:p>
            <a:r>
              <a:rPr lang="en-US" dirty="0"/>
              <a:t>Similar to </a:t>
            </a:r>
            <a:r>
              <a:rPr lang="en-US" dirty="0" err="1"/>
              <a:t>tSNE</a:t>
            </a:r>
            <a:r>
              <a:rPr lang="en-US" dirty="0"/>
              <a:t>, there are weird parameters like:</a:t>
            </a:r>
          </a:p>
          <a:p>
            <a:endParaRPr lang="en-US" dirty="0"/>
          </a:p>
          <a:p>
            <a:r>
              <a:rPr lang="en-US" dirty="0"/>
              <a:t>	• </a:t>
            </a:r>
            <a:r>
              <a:rPr lang="en-US" dirty="0" err="1"/>
              <a:t>n_neighbors</a:t>
            </a:r>
            <a:r>
              <a:rPr lang="en-US" dirty="0"/>
              <a:t> and </a:t>
            </a:r>
          </a:p>
          <a:p>
            <a:r>
              <a:rPr lang="en-US" dirty="0"/>
              <a:t>	• </a:t>
            </a:r>
            <a:r>
              <a:rPr lang="en-US" dirty="0" err="1"/>
              <a:t>min_dist</a:t>
            </a:r>
            <a:endParaRPr lang="en-US" dirty="0"/>
          </a:p>
          <a:p>
            <a:endParaRPr lang="en-US" dirty="0"/>
          </a:p>
          <a:p>
            <a:r>
              <a:rPr lang="en-US" dirty="0"/>
              <a:t>that control how clustering works</a:t>
            </a:r>
          </a:p>
          <a:p>
            <a:endParaRPr lang="en-US" dirty="0"/>
          </a:p>
          <a:p>
            <a:endParaRPr lang="en-US" dirty="0"/>
          </a:p>
          <a:p>
            <a:endParaRPr lang="en-US" dirty="0"/>
          </a:p>
          <a:p>
            <a:endParaRPr lang="en-US" dirty="0"/>
          </a:p>
          <a:p>
            <a:r>
              <a:rPr lang="en-US" dirty="0"/>
              <a:t>Intellectual Property thief moment</a:t>
            </a:r>
          </a:p>
        </p:txBody>
      </p:sp>
      <p:sp>
        <p:nvSpPr>
          <p:cNvPr id="4" name="Slide Number Placeholder 3"/>
          <p:cNvSpPr>
            <a:spLocks noGrp="1"/>
          </p:cNvSpPr>
          <p:nvPr>
            <p:ph type="sldNum" sz="quarter" idx="5"/>
          </p:nvPr>
        </p:nvSpPr>
        <p:spPr/>
        <p:txBody>
          <a:bodyPr/>
          <a:lstStyle/>
          <a:p>
            <a:fld id="{E511C96F-301A-094B-8E81-8CBC66A7A50C}" type="slidenum">
              <a:rPr lang="en-US" smtClean="0"/>
              <a:t>6</a:t>
            </a:fld>
            <a:endParaRPr lang="en-US"/>
          </a:p>
        </p:txBody>
      </p:sp>
    </p:spTree>
    <p:extLst>
      <p:ext uri="{BB962C8B-B14F-4D97-AF65-F5344CB8AC3E}">
        <p14:creationId xmlns:p14="http://schemas.microsoft.com/office/powerpoint/2010/main" val="239473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broadest terms, the EBM iteratively learns the individual functions that alter a feature to satisfy a task.</a:t>
            </a:r>
          </a:p>
          <a:p>
            <a:endParaRPr lang="en-US" dirty="0"/>
          </a:p>
          <a:p>
            <a:r>
              <a:rPr lang="en-US" dirty="0"/>
              <a:t>g describes what task you’re satisfying</a:t>
            </a:r>
          </a:p>
          <a:p>
            <a:r>
              <a:rPr lang="en-US" dirty="0"/>
              <a:t>	• Regression</a:t>
            </a:r>
          </a:p>
          <a:p>
            <a:r>
              <a:rPr lang="en-US" dirty="0"/>
              <a:t>	• Classification</a:t>
            </a:r>
          </a:p>
          <a:p>
            <a:endParaRPr lang="en-US" dirty="0"/>
          </a:p>
          <a:p>
            <a:r>
              <a:rPr lang="en-US" dirty="0"/>
              <a:t>Tree</a:t>
            </a:r>
          </a:p>
          <a:p>
            <a:endParaRPr lang="en-US" dirty="0"/>
          </a:p>
          <a:p>
            <a:endParaRPr lang="en-US" dirty="0"/>
          </a:p>
          <a:p>
            <a:r>
              <a:rPr lang="en-US" dirty="0"/>
              <a:t>As the algorithm learns the classification data that we insert, certain feature functions start to dominate. This is how feature “explainability” is ranked.</a:t>
            </a:r>
          </a:p>
          <a:p>
            <a:endParaRPr lang="en-US" dirty="0"/>
          </a:p>
          <a:p>
            <a:r>
              <a:rPr lang="en-US" dirty="0"/>
              <a:t>Long story short, this algorithm identifies how much each feature and binary feature interaction contribute to the clustering seen in UMAP.</a:t>
            </a:r>
          </a:p>
          <a:p>
            <a:endParaRPr lang="en-US" dirty="0"/>
          </a:p>
          <a:p>
            <a:endParaRPr lang="en-US" dirty="0"/>
          </a:p>
        </p:txBody>
      </p:sp>
      <p:sp>
        <p:nvSpPr>
          <p:cNvPr id="4" name="Slide Number Placeholder 3"/>
          <p:cNvSpPr>
            <a:spLocks noGrp="1"/>
          </p:cNvSpPr>
          <p:nvPr>
            <p:ph type="sldNum" sz="quarter" idx="5"/>
          </p:nvPr>
        </p:nvSpPr>
        <p:spPr/>
        <p:txBody>
          <a:bodyPr/>
          <a:lstStyle/>
          <a:p>
            <a:fld id="{E511C96F-301A-094B-8E81-8CBC66A7A50C}" type="slidenum">
              <a:rPr lang="en-US" smtClean="0"/>
              <a:t>11</a:t>
            </a:fld>
            <a:endParaRPr lang="en-US"/>
          </a:p>
        </p:txBody>
      </p:sp>
    </p:spTree>
    <p:extLst>
      <p:ext uri="{BB962C8B-B14F-4D97-AF65-F5344CB8AC3E}">
        <p14:creationId xmlns:p14="http://schemas.microsoft.com/office/powerpoint/2010/main" val="3101160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see where feature clusters are. If we zoom in to areas of high CAD concentration, we begin to pick out some features that indicate CAD.</a:t>
            </a:r>
          </a:p>
          <a:p>
            <a:endParaRPr lang="en-US" dirty="0"/>
          </a:p>
          <a:p>
            <a:r>
              <a:rPr lang="en-US" dirty="0"/>
              <a:t>Talk about how I once found a “CAD History” cluster, supporting the fact that a family history of CAD increases CAD susceptibility by 40-60%. </a:t>
            </a:r>
          </a:p>
        </p:txBody>
      </p:sp>
      <p:sp>
        <p:nvSpPr>
          <p:cNvPr id="4" name="Slide Number Placeholder 3"/>
          <p:cNvSpPr>
            <a:spLocks noGrp="1"/>
          </p:cNvSpPr>
          <p:nvPr>
            <p:ph type="sldNum" sz="quarter" idx="5"/>
          </p:nvPr>
        </p:nvSpPr>
        <p:spPr/>
        <p:txBody>
          <a:bodyPr/>
          <a:lstStyle/>
          <a:p>
            <a:fld id="{E511C96F-301A-094B-8E81-8CBC66A7A50C}" type="slidenum">
              <a:rPr lang="en-US" smtClean="0"/>
              <a:t>24</a:t>
            </a:fld>
            <a:endParaRPr lang="en-US"/>
          </a:p>
        </p:txBody>
      </p:sp>
    </p:spTree>
    <p:extLst>
      <p:ext uri="{BB962C8B-B14F-4D97-AF65-F5344CB8AC3E}">
        <p14:creationId xmlns:p14="http://schemas.microsoft.com/office/powerpoint/2010/main" val="18384483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11C96F-301A-094B-8E81-8CBC66A7A50C}" type="slidenum">
              <a:rPr lang="en-US" smtClean="0"/>
              <a:t>30</a:t>
            </a:fld>
            <a:endParaRPr lang="en-US"/>
          </a:p>
        </p:txBody>
      </p:sp>
    </p:spTree>
    <p:extLst>
      <p:ext uri="{BB962C8B-B14F-4D97-AF65-F5344CB8AC3E}">
        <p14:creationId xmlns:p14="http://schemas.microsoft.com/office/powerpoint/2010/main" val="4276413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E565E-B849-C088-74F5-70CCE6C63E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7A1DA3-26F3-16AF-5BE2-A5DFD3B049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1D493E-0AE2-BC4E-6C63-448403A21299}"/>
              </a:ext>
            </a:extLst>
          </p:cNvPr>
          <p:cNvSpPr>
            <a:spLocks noGrp="1"/>
          </p:cNvSpPr>
          <p:nvPr>
            <p:ph type="dt" sz="half" idx="10"/>
          </p:nvPr>
        </p:nvSpPr>
        <p:spPr/>
        <p:txBody>
          <a:bodyPr/>
          <a:lstStyle/>
          <a:p>
            <a:fld id="{7F9328BC-D813-E740-A1A4-13E7F527B4EC}" type="datetimeFigureOut">
              <a:rPr lang="en-US" smtClean="0"/>
              <a:t>4/29/25</a:t>
            </a:fld>
            <a:endParaRPr lang="en-US"/>
          </a:p>
        </p:txBody>
      </p:sp>
      <p:sp>
        <p:nvSpPr>
          <p:cNvPr id="5" name="Footer Placeholder 4">
            <a:extLst>
              <a:ext uri="{FF2B5EF4-FFF2-40B4-BE49-F238E27FC236}">
                <a16:creationId xmlns:a16="http://schemas.microsoft.com/office/drawing/2014/main" id="{FBC1EEF7-9E15-28C2-0154-17871819A0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BC6F8B-D4F1-D7EF-D9DA-02FCF706A89F}"/>
              </a:ext>
            </a:extLst>
          </p:cNvPr>
          <p:cNvSpPr>
            <a:spLocks noGrp="1"/>
          </p:cNvSpPr>
          <p:nvPr>
            <p:ph type="sldNum" sz="quarter" idx="12"/>
          </p:nvPr>
        </p:nvSpPr>
        <p:spPr/>
        <p:txBody>
          <a:bodyPr/>
          <a:lstStyle/>
          <a:p>
            <a:fld id="{E74FE651-556B-F14B-A2B0-FEBD7C905882}" type="slidenum">
              <a:rPr lang="en-US" smtClean="0"/>
              <a:t>‹#›</a:t>
            </a:fld>
            <a:endParaRPr lang="en-US"/>
          </a:p>
        </p:txBody>
      </p:sp>
    </p:spTree>
    <p:extLst>
      <p:ext uri="{BB962C8B-B14F-4D97-AF65-F5344CB8AC3E}">
        <p14:creationId xmlns:p14="http://schemas.microsoft.com/office/powerpoint/2010/main" val="578517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F5708-261C-1810-8189-6C761AC84A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70DBFA-B68B-AE18-D6E3-52B23FF12B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263AEB-A1AC-DFD0-F4E4-D6B5CAA05305}"/>
              </a:ext>
            </a:extLst>
          </p:cNvPr>
          <p:cNvSpPr>
            <a:spLocks noGrp="1"/>
          </p:cNvSpPr>
          <p:nvPr>
            <p:ph type="dt" sz="half" idx="10"/>
          </p:nvPr>
        </p:nvSpPr>
        <p:spPr/>
        <p:txBody>
          <a:bodyPr/>
          <a:lstStyle/>
          <a:p>
            <a:fld id="{7F9328BC-D813-E740-A1A4-13E7F527B4EC}" type="datetimeFigureOut">
              <a:rPr lang="en-US" smtClean="0"/>
              <a:t>4/29/25</a:t>
            </a:fld>
            <a:endParaRPr lang="en-US"/>
          </a:p>
        </p:txBody>
      </p:sp>
      <p:sp>
        <p:nvSpPr>
          <p:cNvPr id="5" name="Footer Placeholder 4">
            <a:extLst>
              <a:ext uri="{FF2B5EF4-FFF2-40B4-BE49-F238E27FC236}">
                <a16:creationId xmlns:a16="http://schemas.microsoft.com/office/drawing/2014/main" id="{2432402E-9D3A-C8F9-C5C4-0DF35FBAF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8C3E76-634B-D85F-383D-0DE2C7C154A6}"/>
              </a:ext>
            </a:extLst>
          </p:cNvPr>
          <p:cNvSpPr>
            <a:spLocks noGrp="1"/>
          </p:cNvSpPr>
          <p:nvPr>
            <p:ph type="sldNum" sz="quarter" idx="12"/>
          </p:nvPr>
        </p:nvSpPr>
        <p:spPr/>
        <p:txBody>
          <a:bodyPr/>
          <a:lstStyle/>
          <a:p>
            <a:fld id="{E74FE651-556B-F14B-A2B0-FEBD7C905882}" type="slidenum">
              <a:rPr lang="en-US" smtClean="0"/>
              <a:t>‹#›</a:t>
            </a:fld>
            <a:endParaRPr lang="en-US"/>
          </a:p>
        </p:txBody>
      </p:sp>
    </p:spTree>
    <p:extLst>
      <p:ext uri="{BB962C8B-B14F-4D97-AF65-F5344CB8AC3E}">
        <p14:creationId xmlns:p14="http://schemas.microsoft.com/office/powerpoint/2010/main" val="555288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024DB-B9BA-CAFA-38FA-24552642B5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CA0E78-0A2A-3193-70FA-7623FE90E9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F2D9B7-4F95-33CE-4042-C2118F07F3D3}"/>
              </a:ext>
            </a:extLst>
          </p:cNvPr>
          <p:cNvSpPr>
            <a:spLocks noGrp="1"/>
          </p:cNvSpPr>
          <p:nvPr>
            <p:ph type="dt" sz="half" idx="10"/>
          </p:nvPr>
        </p:nvSpPr>
        <p:spPr/>
        <p:txBody>
          <a:bodyPr/>
          <a:lstStyle/>
          <a:p>
            <a:fld id="{7F9328BC-D813-E740-A1A4-13E7F527B4EC}" type="datetimeFigureOut">
              <a:rPr lang="en-US" smtClean="0"/>
              <a:t>4/29/25</a:t>
            </a:fld>
            <a:endParaRPr lang="en-US"/>
          </a:p>
        </p:txBody>
      </p:sp>
      <p:sp>
        <p:nvSpPr>
          <p:cNvPr id="5" name="Footer Placeholder 4">
            <a:extLst>
              <a:ext uri="{FF2B5EF4-FFF2-40B4-BE49-F238E27FC236}">
                <a16:creationId xmlns:a16="http://schemas.microsoft.com/office/drawing/2014/main" id="{12A5894C-EC9E-B570-AAD4-EB55C9DF40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F89AC7-9131-F7E8-F5A8-602CD6094CA7}"/>
              </a:ext>
            </a:extLst>
          </p:cNvPr>
          <p:cNvSpPr>
            <a:spLocks noGrp="1"/>
          </p:cNvSpPr>
          <p:nvPr>
            <p:ph type="sldNum" sz="quarter" idx="12"/>
          </p:nvPr>
        </p:nvSpPr>
        <p:spPr/>
        <p:txBody>
          <a:bodyPr/>
          <a:lstStyle/>
          <a:p>
            <a:fld id="{E74FE651-556B-F14B-A2B0-FEBD7C905882}" type="slidenum">
              <a:rPr lang="en-US" smtClean="0"/>
              <a:t>‹#›</a:t>
            </a:fld>
            <a:endParaRPr lang="en-US"/>
          </a:p>
        </p:txBody>
      </p:sp>
    </p:spTree>
    <p:extLst>
      <p:ext uri="{BB962C8B-B14F-4D97-AF65-F5344CB8AC3E}">
        <p14:creationId xmlns:p14="http://schemas.microsoft.com/office/powerpoint/2010/main" val="594013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459CD-851B-1BD0-F474-FC55673740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A4BD7E-C119-F65A-93E8-663D32300B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328FE3-2C70-1BC1-D01F-8EDC144B28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CE892D-43CF-385B-63FB-FBF9813011DE}"/>
              </a:ext>
            </a:extLst>
          </p:cNvPr>
          <p:cNvSpPr>
            <a:spLocks noGrp="1"/>
          </p:cNvSpPr>
          <p:nvPr>
            <p:ph type="dt" sz="half" idx="10"/>
          </p:nvPr>
        </p:nvSpPr>
        <p:spPr/>
        <p:txBody>
          <a:bodyPr/>
          <a:lstStyle/>
          <a:p>
            <a:fld id="{7F9328BC-D813-E740-A1A4-13E7F527B4EC}" type="datetimeFigureOut">
              <a:rPr lang="en-US" smtClean="0"/>
              <a:t>4/29/25</a:t>
            </a:fld>
            <a:endParaRPr lang="en-US"/>
          </a:p>
        </p:txBody>
      </p:sp>
      <p:sp>
        <p:nvSpPr>
          <p:cNvPr id="6" name="Footer Placeholder 5">
            <a:extLst>
              <a:ext uri="{FF2B5EF4-FFF2-40B4-BE49-F238E27FC236}">
                <a16:creationId xmlns:a16="http://schemas.microsoft.com/office/drawing/2014/main" id="{C57EBEAD-08C2-5E91-A99F-1067458CB3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88F450-5037-0667-A865-3047481C5C56}"/>
              </a:ext>
            </a:extLst>
          </p:cNvPr>
          <p:cNvSpPr>
            <a:spLocks noGrp="1"/>
          </p:cNvSpPr>
          <p:nvPr>
            <p:ph type="sldNum" sz="quarter" idx="12"/>
          </p:nvPr>
        </p:nvSpPr>
        <p:spPr/>
        <p:txBody>
          <a:bodyPr/>
          <a:lstStyle/>
          <a:p>
            <a:fld id="{E74FE651-556B-F14B-A2B0-FEBD7C905882}" type="slidenum">
              <a:rPr lang="en-US" smtClean="0"/>
              <a:t>‹#›</a:t>
            </a:fld>
            <a:endParaRPr lang="en-US"/>
          </a:p>
        </p:txBody>
      </p:sp>
    </p:spTree>
    <p:extLst>
      <p:ext uri="{BB962C8B-B14F-4D97-AF65-F5344CB8AC3E}">
        <p14:creationId xmlns:p14="http://schemas.microsoft.com/office/powerpoint/2010/main" val="2827106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645AA-CAD4-DE42-069F-77CC273322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C3B9469-183D-0746-68FC-02E33B5FC1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93D1C4-A96E-C1E4-8739-D6E45FE9E4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190814-AED8-7153-5E70-595FB656D2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64AEAE-60D0-C0B6-0E48-93EAF4CC2B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C99AB00-4A57-FA3F-42F7-EA87767D27D2}"/>
              </a:ext>
            </a:extLst>
          </p:cNvPr>
          <p:cNvSpPr>
            <a:spLocks noGrp="1"/>
          </p:cNvSpPr>
          <p:nvPr>
            <p:ph type="dt" sz="half" idx="10"/>
          </p:nvPr>
        </p:nvSpPr>
        <p:spPr/>
        <p:txBody>
          <a:bodyPr/>
          <a:lstStyle/>
          <a:p>
            <a:fld id="{7F9328BC-D813-E740-A1A4-13E7F527B4EC}" type="datetimeFigureOut">
              <a:rPr lang="en-US" smtClean="0"/>
              <a:t>4/29/25</a:t>
            </a:fld>
            <a:endParaRPr lang="en-US"/>
          </a:p>
        </p:txBody>
      </p:sp>
      <p:sp>
        <p:nvSpPr>
          <p:cNvPr id="8" name="Footer Placeholder 7">
            <a:extLst>
              <a:ext uri="{FF2B5EF4-FFF2-40B4-BE49-F238E27FC236}">
                <a16:creationId xmlns:a16="http://schemas.microsoft.com/office/drawing/2014/main" id="{86EBFA5B-3D2E-811E-7E53-959BC5EB451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A04C84-007F-055B-18EB-33B48692F600}"/>
              </a:ext>
            </a:extLst>
          </p:cNvPr>
          <p:cNvSpPr>
            <a:spLocks noGrp="1"/>
          </p:cNvSpPr>
          <p:nvPr>
            <p:ph type="sldNum" sz="quarter" idx="12"/>
          </p:nvPr>
        </p:nvSpPr>
        <p:spPr/>
        <p:txBody>
          <a:bodyPr/>
          <a:lstStyle/>
          <a:p>
            <a:fld id="{E74FE651-556B-F14B-A2B0-FEBD7C905882}" type="slidenum">
              <a:rPr lang="en-US" smtClean="0"/>
              <a:t>‹#›</a:t>
            </a:fld>
            <a:endParaRPr lang="en-US"/>
          </a:p>
        </p:txBody>
      </p:sp>
    </p:spTree>
    <p:extLst>
      <p:ext uri="{BB962C8B-B14F-4D97-AF65-F5344CB8AC3E}">
        <p14:creationId xmlns:p14="http://schemas.microsoft.com/office/powerpoint/2010/main" val="2119020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AF233-F233-5E6D-4A7A-E54004D1E1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87B1FEE-6891-9F20-8F87-2C278C37C609}"/>
              </a:ext>
            </a:extLst>
          </p:cNvPr>
          <p:cNvSpPr>
            <a:spLocks noGrp="1"/>
          </p:cNvSpPr>
          <p:nvPr>
            <p:ph type="dt" sz="half" idx="10"/>
          </p:nvPr>
        </p:nvSpPr>
        <p:spPr/>
        <p:txBody>
          <a:bodyPr/>
          <a:lstStyle/>
          <a:p>
            <a:fld id="{7F9328BC-D813-E740-A1A4-13E7F527B4EC}" type="datetimeFigureOut">
              <a:rPr lang="en-US" smtClean="0"/>
              <a:t>4/29/25</a:t>
            </a:fld>
            <a:endParaRPr lang="en-US"/>
          </a:p>
        </p:txBody>
      </p:sp>
      <p:sp>
        <p:nvSpPr>
          <p:cNvPr id="4" name="Footer Placeholder 3">
            <a:extLst>
              <a:ext uri="{FF2B5EF4-FFF2-40B4-BE49-F238E27FC236}">
                <a16:creationId xmlns:a16="http://schemas.microsoft.com/office/drawing/2014/main" id="{AC35CCCD-74EB-F735-F586-8FFD1AAC45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528E32-0634-E3E5-25A3-54343A51C616}"/>
              </a:ext>
            </a:extLst>
          </p:cNvPr>
          <p:cNvSpPr>
            <a:spLocks noGrp="1"/>
          </p:cNvSpPr>
          <p:nvPr>
            <p:ph type="sldNum" sz="quarter" idx="12"/>
          </p:nvPr>
        </p:nvSpPr>
        <p:spPr/>
        <p:txBody>
          <a:bodyPr/>
          <a:lstStyle/>
          <a:p>
            <a:fld id="{E74FE651-556B-F14B-A2B0-FEBD7C905882}" type="slidenum">
              <a:rPr lang="en-US" smtClean="0"/>
              <a:t>‹#›</a:t>
            </a:fld>
            <a:endParaRPr lang="en-US"/>
          </a:p>
        </p:txBody>
      </p:sp>
    </p:spTree>
    <p:extLst>
      <p:ext uri="{BB962C8B-B14F-4D97-AF65-F5344CB8AC3E}">
        <p14:creationId xmlns:p14="http://schemas.microsoft.com/office/powerpoint/2010/main" val="1443390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7BF9CC-F050-3649-AD51-CB135561C3B4}"/>
              </a:ext>
            </a:extLst>
          </p:cNvPr>
          <p:cNvSpPr>
            <a:spLocks noGrp="1"/>
          </p:cNvSpPr>
          <p:nvPr>
            <p:ph type="dt" sz="half" idx="10"/>
          </p:nvPr>
        </p:nvSpPr>
        <p:spPr/>
        <p:txBody>
          <a:bodyPr/>
          <a:lstStyle/>
          <a:p>
            <a:fld id="{7F9328BC-D813-E740-A1A4-13E7F527B4EC}" type="datetimeFigureOut">
              <a:rPr lang="en-US" smtClean="0"/>
              <a:t>4/29/25</a:t>
            </a:fld>
            <a:endParaRPr lang="en-US"/>
          </a:p>
        </p:txBody>
      </p:sp>
      <p:sp>
        <p:nvSpPr>
          <p:cNvPr id="3" name="Footer Placeholder 2">
            <a:extLst>
              <a:ext uri="{FF2B5EF4-FFF2-40B4-BE49-F238E27FC236}">
                <a16:creationId xmlns:a16="http://schemas.microsoft.com/office/drawing/2014/main" id="{25D1DE10-D329-A88A-F9C0-35C9001CFF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0840CBB-D4D3-E86D-8618-E102D72D0A09}"/>
              </a:ext>
            </a:extLst>
          </p:cNvPr>
          <p:cNvSpPr>
            <a:spLocks noGrp="1"/>
          </p:cNvSpPr>
          <p:nvPr>
            <p:ph type="sldNum" sz="quarter" idx="12"/>
          </p:nvPr>
        </p:nvSpPr>
        <p:spPr/>
        <p:txBody>
          <a:bodyPr/>
          <a:lstStyle/>
          <a:p>
            <a:fld id="{E74FE651-556B-F14B-A2B0-FEBD7C905882}" type="slidenum">
              <a:rPr lang="en-US" smtClean="0"/>
              <a:t>‹#›</a:t>
            </a:fld>
            <a:endParaRPr lang="en-US"/>
          </a:p>
        </p:txBody>
      </p:sp>
    </p:spTree>
    <p:extLst>
      <p:ext uri="{BB962C8B-B14F-4D97-AF65-F5344CB8AC3E}">
        <p14:creationId xmlns:p14="http://schemas.microsoft.com/office/powerpoint/2010/main" val="1963882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12BA0-49A2-6204-26EA-F5AAC35AC0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52F504-8263-C9C6-7E8E-E5B8736532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701E5F-8914-A0A7-3CB2-EA3B382BFF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CCF3DF-6667-9D4E-CD7E-9A632ADFF084}"/>
              </a:ext>
            </a:extLst>
          </p:cNvPr>
          <p:cNvSpPr>
            <a:spLocks noGrp="1"/>
          </p:cNvSpPr>
          <p:nvPr>
            <p:ph type="dt" sz="half" idx="10"/>
          </p:nvPr>
        </p:nvSpPr>
        <p:spPr/>
        <p:txBody>
          <a:bodyPr/>
          <a:lstStyle/>
          <a:p>
            <a:fld id="{7F9328BC-D813-E740-A1A4-13E7F527B4EC}" type="datetimeFigureOut">
              <a:rPr lang="en-US" smtClean="0"/>
              <a:t>4/29/25</a:t>
            </a:fld>
            <a:endParaRPr lang="en-US"/>
          </a:p>
        </p:txBody>
      </p:sp>
      <p:sp>
        <p:nvSpPr>
          <p:cNvPr id="6" name="Footer Placeholder 5">
            <a:extLst>
              <a:ext uri="{FF2B5EF4-FFF2-40B4-BE49-F238E27FC236}">
                <a16:creationId xmlns:a16="http://schemas.microsoft.com/office/drawing/2014/main" id="{D556D3BC-5C39-B982-7B31-07EF06ACE7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2244E5-9E70-68C8-F215-5DF188B4388E}"/>
              </a:ext>
            </a:extLst>
          </p:cNvPr>
          <p:cNvSpPr>
            <a:spLocks noGrp="1"/>
          </p:cNvSpPr>
          <p:nvPr>
            <p:ph type="sldNum" sz="quarter" idx="12"/>
          </p:nvPr>
        </p:nvSpPr>
        <p:spPr/>
        <p:txBody>
          <a:bodyPr/>
          <a:lstStyle/>
          <a:p>
            <a:fld id="{E74FE651-556B-F14B-A2B0-FEBD7C905882}" type="slidenum">
              <a:rPr lang="en-US" smtClean="0"/>
              <a:t>‹#›</a:t>
            </a:fld>
            <a:endParaRPr lang="en-US"/>
          </a:p>
        </p:txBody>
      </p:sp>
    </p:spTree>
    <p:extLst>
      <p:ext uri="{BB962C8B-B14F-4D97-AF65-F5344CB8AC3E}">
        <p14:creationId xmlns:p14="http://schemas.microsoft.com/office/powerpoint/2010/main" val="2365931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C45A8-1D0E-CEFC-B86C-2F6C30E69A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6F84FE-6438-DCC6-5A05-82DF56160A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35C484-2C83-6290-E65B-8610A0ACE6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D1B90-F2F8-5C92-D121-33D6629E8A10}"/>
              </a:ext>
            </a:extLst>
          </p:cNvPr>
          <p:cNvSpPr>
            <a:spLocks noGrp="1"/>
          </p:cNvSpPr>
          <p:nvPr>
            <p:ph type="dt" sz="half" idx="10"/>
          </p:nvPr>
        </p:nvSpPr>
        <p:spPr/>
        <p:txBody>
          <a:bodyPr/>
          <a:lstStyle/>
          <a:p>
            <a:fld id="{7F9328BC-D813-E740-A1A4-13E7F527B4EC}" type="datetimeFigureOut">
              <a:rPr lang="en-US" smtClean="0"/>
              <a:t>4/29/25</a:t>
            </a:fld>
            <a:endParaRPr lang="en-US"/>
          </a:p>
        </p:txBody>
      </p:sp>
      <p:sp>
        <p:nvSpPr>
          <p:cNvPr id="6" name="Footer Placeholder 5">
            <a:extLst>
              <a:ext uri="{FF2B5EF4-FFF2-40B4-BE49-F238E27FC236}">
                <a16:creationId xmlns:a16="http://schemas.microsoft.com/office/drawing/2014/main" id="{650BF22F-DC21-477B-F4E3-C0C8D93550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44CEF6-D764-8711-8A96-A42493500739}"/>
              </a:ext>
            </a:extLst>
          </p:cNvPr>
          <p:cNvSpPr>
            <a:spLocks noGrp="1"/>
          </p:cNvSpPr>
          <p:nvPr>
            <p:ph type="sldNum" sz="quarter" idx="12"/>
          </p:nvPr>
        </p:nvSpPr>
        <p:spPr/>
        <p:txBody>
          <a:bodyPr/>
          <a:lstStyle/>
          <a:p>
            <a:fld id="{E74FE651-556B-F14B-A2B0-FEBD7C905882}" type="slidenum">
              <a:rPr lang="en-US" smtClean="0"/>
              <a:t>‹#›</a:t>
            </a:fld>
            <a:endParaRPr lang="en-US"/>
          </a:p>
        </p:txBody>
      </p:sp>
    </p:spTree>
    <p:extLst>
      <p:ext uri="{BB962C8B-B14F-4D97-AF65-F5344CB8AC3E}">
        <p14:creationId xmlns:p14="http://schemas.microsoft.com/office/powerpoint/2010/main" val="3836940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D8491-1D08-62FB-5412-CA62621AF06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20C6E5B-F6CD-FA5E-9F5A-9241BBCAAF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F12BAC-0E1B-3CFC-89F7-01E5B36FE087}"/>
              </a:ext>
            </a:extLst>
          </p:cNvPr>
          <p:cNvSpPr>
            <a:spLocks noGrp="1"/>
          </p:cNvSpPr>
          <p:nvPr>
            <p:ph type="dt" sz="half" idx="10"/>
          </p:nvPr>
        </p:nvSpPr>
        <p:spPr/>
        <p:txBody>
          <a:bodyPr/>
          <a:lstStyle/>
          <a:p>
            <a:fld id="{7F9328BC-D813-E740-A1A4-13E7F527B4EC}" type="datetimeFigureOut">
              <a:rPr lang="en-US" smtClean="0"/>
              <a:t>4/29/25</a:t>
            </a:fld>
            <a:endParaRPr lang="en-US"/>
          </a:p>
        </p:txBody>
      </p:sp>
      <p:sp>
        <p:nvSpPr>
          <p:cNvPr id="5" name="Footer Placeholder 4">
            <a:extLst>
              <a:ext uri="{FF2B5EF4-FFF2-40B4-BE49-F238E27FC236}">
                <a16:creationId xmlns:a16="http://schemas.microsoft.com/office/drawing/2014/main" id="{027AF94D-54EB-D255-19D9-D97A7841F0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51A1B1-1EAF-3C7D-5431-5A54BCD82FC6}"/>
              </a:ext>
            </a:extLst>
          </p:cNvPr>
          <p:cNvSpPr>
            <a:spLocks noGrp="1"/>
          </p:cNvSpPr>
          <p:nvPr>
            <p:ph type="sldNum" sz="quarter" idx="12"/>
          </p:nvPr>
        </p:nvSpPr>
        <p:spPr/>
        <p:txBody>
          <a:bodyPr/>
          <a:lstStyle/>
          <a:p>
            <a:fld id="{E74FE651-556B-F14B-A2B0-FEBD7C905882}" type="slidenum">
              <a:rPr lang="en-US" smtClean="0"/>
              <a:t>‹#›</a:t>
            </a:fld>
            <a:endParaRPr lang="en-US"/>
          </a:p>
        </p:txBody>
      </p:sp>
    </p:spTree>
    <p:extLst>
      <p:ext uri="{BB962C8B-B14F-4D97-AF65-F5344CB8AC3E}">
        <p14:creationId xmlns:p14="http://schemas.microsoft.com/office/powerpoint/2010/main" val="1882285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06D0B2-97EA-186C-8305-62AC84AD551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9686B5-A9E4-F89A-A76C-1CA1A6B528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70B0CE-9A82-4C56-C064-FBE05C1EAC0F}"/>
              </a:ext>
            </a:extLst>
          </p:cNvPr>
          <p:cNvSpPr>
            <a:spLocks noGrp="1"/>
          </p:cNvSpPr>
          <p:nvPr>
            <p:ph type="dt" sz="half" idx="10"/>
          </p:nvPr>
        </p:nvSpPr>
        <p:spPr/>
        <p:txBody>
          <a:bodyPr/>
          <a:lstStyle/>
          <a:p>
            <a:fld id="{7F9328BC-D813-E740-A1A4-13E7F527B4EC}" type="datetimeFigureOut">
              <a:rPr lang="en-US" smtClean="0"/>
              <a:t>4/29/25</a:t>
            </a:fld>
            <a:endParaRPr lang="en-US"/>
          </a:p>
        </p:txBody>
      </p:sp>
      <p:sp>
        <p:nvSpPr>
          <p:cNvPr id="5" name="Footer Placeholder 4">
            <a:extLst>
              <a:ext uri="{FF2B5EF4-FFF2-40B4-BE49-F238E27FC236}">
                <a16:creationId xmlns:a16="http://schemas.microsoft.com/office/drawing/2014/main" id="{FA745E66-2D2A-44EC-D80B-2A042A11F5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9AA547-8527-F0AF-2756-04CA8A922B65}"/>
              </a:ext>
            </a:extLst>
          </p:cNvPr>
          <p:cNvSpPr>
            <a:spLocks noGrp="1"/>
          </p:cNvSpPr>
          <p:nvPr>
            <p:ph type="sldNum" sz="quarter" idx="12"/>
          </p:nvPr>
        </p:nvSpPr>
        <p:spPr/>
        <p:txBody>
          <a:bodyPr/>
          <a:lstStyle/>
          <a:p>
            <a:fld id="{E74FE651-556B-F14B-A2B0-FEBD7C905882}" type="slidenum">
              <a:rPr lang="en-US" smtClean="0"/>
              <a:t>‹#›</a:t>
            </a:fld>
            <a:endParaRPr lang="en-US"/>
          </a:p>
        </p:txBody>
      </p:sp>
    </p:spTree>
    <p:extLst>
      <p:ext uri="{BB962C8B-B14F-4D97-AF65-F5344CB8AC3E}">
        <p14:creationId xmlns:p14="http://schemas.microsoft.com/office/powerpoint/2010/main" val="373700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D2C9C6-7910-9360-9203-BA0E8B40F1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7643513-9B25-7358-7E4B-C14114CF6C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80F77D-366E-E383-357C-6C5716062F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9328BC-D813-E740-A1A4-13E7F527B4EC}" type="datetimeFigureOut">
              <a:rPr lang="en-US" smtClean="0"/>
              <a:t>4/29/25</a:t>
            </a:fld>
            <a:endParaRPr lang="en-US"/>
          </a:p>
        </p:txBody>
      </p:sp>
      <p:sp>
        <p:nvSpPr>
          <p:cNvPr id="5" name="Footer Placeholder 4">
            <a:extLst>
              <a:ext uri="{FF2B5EF4-FFF2-40B4-BE49-F238E27FC236}">
                <a16:creationId xmlns:a16="http://schemas.microsoft.com/office/drawing/2014/main" id="{5695EFFD-FDC2-8C8D-C82F-F20D572567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344A4FF-1C77-D41A-10E7-E774134EC6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4FE651-556B-F14B-A2B0-FEBD7C905882}" type="slidenum">
              <a:rPr lang="en-US" smtClean="0"/>
              <a:t>‹#›</a:t>
            </a:fld>
            <a:endParaRPr lang="en-US"/>
          </a:p>
        </p:txBody>
      </p:sp>
    </p:spTree>
    <p:extLst>
      <p:ext uri="{BB962C8B-B14F-4D97-AF65-F5344CB8AC3E}">
        <p14:creationId xmlns:p14="http://schemas.microsoft.com/office/powerpoint/2010/main" val="663097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826EE67-ED82-4B30-9B95-D920765620EA}"/>
              </a:ext>
            </a:extLst>
          </p:cNvPr>
          <p:cNvSpPr>
            <a:spLocks noGrp="1"/>
          </p:cNvSpPr>
          <p:nvPr>
            <p:ph type="ctrTitle"/>
          </p:nvPr>
        </p:nvSpPr>
        <p:spPr>
          <a:xfrm>
            <a:off x="2026693" y="1030406"/>
            <a:ext cx="8147713" cy="3081242"/>
          </a:xfrm>
        </p:spPr>
        <p:txBody>
          <a:bodyPr anchor="ctr">
            <a:normAutofit/>
          </a:bodyPr>
          <a:lstStyle/>
          <a:p>
            <a:r>
              <a:rPr lang="en-US" sz="4800" dirty="0">
                <a:solidFill>
                  <a:srgbClr val="FFFFFF"/>
                </a:solidFill>
              </a:rPr>
              <a:t>UMAP – Explainable Boosting Machine (EBM)</a:t>
            </a:r>
          </a:p>
        </p:txBody>
      </p:sp>
      <p:sp>
        <p:nvSpPr>
          <p:cNvPr id="3" name="Subtitle 2">
            <a:extLst>
              <a:ext uri="{FF2B5EF4-FFF2-40B4-BE49-F238E27FC236}">
                <a16:creationId xmlns:a16="http://schemas.microsoft.com/office/drawing/2014/main" id="{C1A33D57-108A-5797-0680-33265EAFD03E}"/>
              </a:ext>
            </a:extLst>
          </p:cNvPr>
          <p:cNvSpPr>
            <a:spLocks noGrp="1"/>
          </p:cNvSpPr>
          <p:nvPr>
            <p:ph type="subTitle" idx="1"/>
          </p:nvPr>
        </p:nvSpPr>
        <p:spPr>
          <a:xfrm>
            <a:off x="1559943" y="4504888"/>
            <a:ext cx="9078628" cy="1897690"/>
          </a:xfrm>
        </p:spPr>
        <p:txBody>
          <a:bodyPr anchor="ctr">
            <a:normAutofit/>
          </a:bodyPr>
          <a:lstStyle/>
          <a:p>
            <a:r>
              <a:rPr lang="en-US" dirty="0">
                <a:solidFill>
                  <a:srgbClr val="FFFFFF"/>
                </a:solidFill>
              </a:rPr>
              <a:t>Inspired by </a:t>
            </a:r>
            <a:r>
              <a:rPr lang="en-US" i="1" dirty="0">
                <a:solidFill>
                  <a:srgbClr val="FFFFFF"/>
                </a:solidFill>
              </a:rPr>
              <a:t>Salmanian et al. 2024</a:t>
            </a:r>
          </a:p>
          <a:p>
            <a:r>
              <a:rPr lang="en-US" i="1" dirty="0">
                <a:solidFill>
                  <a:srgbClr val="FFFFFF"/>
                </a:solidFill>
              </a:rPr>
              <a:t> </a:t>
            </a:r>
          </a:p>
          <a:p>
            <a:r>
              <a:rPr lang="en-US" dirty="0">
                <a:solidFill>
                  <a:srgbClr val="FFFFFF"/>
                </a:solidFill>
              </a:rPr>
              <a:t>DimVis: Interpreting Visual Clusters in Dimensionality Reduction With Explainable Boosting Machine </a:t>
            </a:r>
          </a:p>
          <a:p>
            <a:endParaRPr lang="en-US" dirty="0">
              <a:solidFill>
                <a:srgbClr val="FFFFFF"/>
              </a:solidFill>
            </a:endParaRPr>
          </a:p>
          <a:p>
            <a:endParaRPr lang="en-US" dirty="0">
              <a:solidFill>
                <a:srgbClr val="FFFFFF"/>
              </a:solidFill>
            </a:endParaRPr>
          </a:p>
        </p:txBody>
      </p:sp>
    </p:spTree>
    <p:extLst>
      <p:ext uri="{BB962C8B-B14F-4D97-AF65-F5344CB8AC3E}">
        <p14:creationId xmlns:p14="http://schemas.microsoft.com/office/powerpoint/2010/main" val="611365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17BD7CC6-2F7F-4587-8E92-D041AB2CE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E7ED1F4-19EF-4BC2-A6EA-DF1525142B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0EE7C14F-442F-4416-A4A9-6DA10263A4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31" name="Oval 30">
              <a:extLst>
                <a:ext uri="{FF2B5EF4-FFF2-40B4-BE49-F238E27FC236}">
                  <a16:creationId xmlns:a16="http://schemas.microsoft.com/office/drawing/2014/main" id="{97AC4CCD-70AA-4916-97EA-D9C12FED1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C5694289-EA59-4679-9DB4-0646321A8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32EDAD0A-6995-496D-9789-A34C66F5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BCBBB211-248C-4F94-900A-80CD8D52F3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48DCC953-87D5-419D-A529-94A9462512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0F67D0B7-A0F4-47EB-8DF7-2630C056AB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A3919D60-F174-4FEB-9E9D-5AF6BD659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98EF7474-F1F7-47A7-AF33-E38A86EBF6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41" name="Straight Connector 40">
              <a:extLst>
                <a:ext uri="{FF2B5EF4-FFF2-40B4-BE49-F238E27FC236}">
                  <a16:creationId xmlns:a16="http://schemas.microsoft.com/office/drawing/2014/main" id="{8B14C3B3-01E7-4DD2-80BC-D6605BDB3A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9E2ED25-9BE8-462A-BE54-D3E506DBA2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3E48329-07A0-4DBB-9D0C-0614AE372F0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ED609B4-86D5-44D5-8511-42AE9B129B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C912E1BF-76C2-49D5-A5AC-1CE20255C4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47" name="Straight Connector 46">
              <a:extLst>
                <a:ext uri="{FF2B5EF4-FFF2-40B4-BE49-F238E27FC236}">
                  <a16:creationId xmlns:a16="http://schemas.microsoft.com/office/drawing/2014/main" id="{84E6722B-B0C0-4A43-91F6-6E2D6E2D7F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8EAB6DA-9741-4668-8E47-957CD51511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36EC6AA-9E44-4DD2-B718-EE04111414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38DE653-B3C7-49E5-A3B0-6C00B26083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52" name="Rectangle 51">
            <a:extLst>
              <a:ext uri="{FF2B5EF4-FFF2-40B4-BE49-F238E27FC236}">
                <a16:creationId xmlns:a16="http://schemas.microsoft.com/office/drawing/2014/main" id="{90AE89EB-4F51-4181-9475-7E1048FB3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 name="Group 53">
            <a:extLst>
              <a:ext uri="{FF2B5EF4-FFF2-40B4-BE49-F238E27FC236}">
                <a16:creationId xmlns:a16="http://schemas.microsoft.com/office/drawing/2014/main" id="{B78285A0-9022-40FD-B520-91444BA163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55" name="Straight Connector 54">
              <a:extLst>
                <a:ext uri="{FF2B5EF4-FFF2-40B4-BE49-F238E27FC236}">
                  <a16:creationId xmlns:a16="http://schemas.microsoft.com/office/drawing/2014/main" id="{0E2EED1A-F137-41BB-A555-7CDFF9C334B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E1EC980-DEDC-41BF-995C-1D471C90EC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1A2F9486-DC13-4EDD-82CE-7FFC6F4846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646A2475-19E5-46B8-B7FE-C2CF42971F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CA280C3-4016-A85C-A65D-162E7A1700CE}"/>
              </a:ext>
            </a:extLst>
          </p:cNvPr>
          <p:cNvSpPr>
            <a:spLocks noGrp="1"/>
          </p:cNvSpPr>
          <p:nvPr>
            <p:ph type="title"/>
          </p:nvPr>
        </p:nvSpPr>
        <p:spPr>
          <a:xfrm>
            <a:off x="629640" y="4038037"/>
            <a:ext cx="5107366" cy="2087424"/>
          </a:xfrm>
          <a:noFill/>
        </p:spPr>
        <p:txBody>
          <a:bodyPr vert="horz" lIns="91440" tIns="45720" rIns="91440" bIns="45720" rtlCol="0" anchor="t">
            <a:normAutofit/>
          </a:bodyPr>
          <a:lstStyle/>
          <a:p>
            <a:r>
              <a:rPr lang="en-US" sz="4800" kern="1200">
                <a:solidFill>
                  <a:schemeClr val="bg1"/>
                </a:solidFill>
                <a:latin typeface="+mj-lt"/>
                <a:ea typeface="+mj-ea"/>
                <a:cs typeface="+mj-cs"/>
              </a:rPr>
              <a:t>Motivation</a:t>
            </a:r>
          </a:p>
        </p:txBody>
      </p:sp>
      <p:pic>
        <p:nvPicPr>
          <p:cNvPr id="4" name="Picture 3">
            <a:extLst>
              <a:ext uri="{FF2B5EF4-FFF2-40B4-BE49-F238E27FC236}">
                <a16:creationId xmlns:a16="http://schemas.microsoft.com/office/drawing/2014/main" id="{D9A07208-02C2-7315-D426-7628E856DC28}"/>
              </a:ext>
            </a:extLst>
          </p:cNvPr>
          <p:cNvPicPr>
            <a:picLocks noChangeAspect="1"/>
          </p:cNvPicPr>
          <p:nvPr/>
        </p:nvPicPr>
        <p:blipFill>
          <a:blip r:embed="rId3"/>
          <a:stretch>
            <a:fillRect/>
          </a:stretch>
        </p:blipFill>
        <p:spPr>
          <a:xfrm>
            <a:off x="631359" y="1003451"/>
            <a:ext cx="10843065" cy="2493904"/>
          </a:xfrm>
          <a:prstGeom prst="rect">
            <a:avLst/>
          </a:prstGeom>
        </p:spPr>
      </p:pic>
      <p:grpSp>
        <p:nvGrpSpPr>
          <p:cNvPr id="60" name="Group 59">
            <a:extLst>
              <a:ext uri="{FF2B5EF4-FFF2-40B4-BE49-F238E27FC236}">
                <a16:creationId xmlns:a16="http://schemas.microsoft.com/office/drawing/2014/main" id="{91CD8CAA-4614-4393-ADD7-7FDFD8ABD76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776904"/>
            <a:ext cx="304800" cy="429768"/>
            <a:chOff x="215328" y="-46937"/>
            <a:chExt cx="304800" cy="2773841"/>
          </a:xfrm>
        </p:grpSpPr>
        <p:cxnSp>
          <p:nvCxnSpPr>
            <p:cNvPr id="61" name="Straight Connector 60">
              <a:extLst>
                <a:ext uri="{FF2B5EF4-FFF2-40B4-BE49-F238E27FC236}">
                  <a16:creationId xmlns:a16="http://schemas.microsoft.com/office/drawing/2014/main" id="{89F5BF84-4D12-40EB-B3CA-72B55341A8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CF91815-2B4A-44C8-BAC2-6732AD11A9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523960DB-F7E9-40C5-BDC7-9700C71B18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95623C8-E3C3-425E-B186-ADFF5B6702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5" name="Rectangle 4">
            <a:extLst>
              <a:ext uri="{FF2B5EF4-FFF2-40B4-BE49-F238E27FC236}">
                <a16:creationId xmlns:a16="http://schemas.microsoft.com/office/drawing/2014/main" id="{E87E7EE8-180A-801A-1B3C-5E1757EAD2D9}"/>
              </a:ext>
            </a:extLst>
          </p:cNvPr>
          <p:cNvSpPr/>
          <p:nvPr/>
        </p:nvSpPr>
        <p:spPr>
          <a:xfrm>
            <a:off x="10916239" y="1003451"/>
            <a:ext cx="558185" cy="2493904"/>
          </a:xfrm>
          <a:prstGeom prst="rect">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2">
            <a:extLst>
              <a:ext uri="{FF2B5EF4-FFF2-40B4-BE49-F238E27FC236}">
                <a16:creationId xmlns:a16="http://schemas.microsoft.com/office/drawing/2014/main" id="{385B485A-D505-883A-9874-C9FCDDB94BF0}"/>
              </a:ext>
            </a:extLst>
          </p:cNvPr>
          <p:cNvSpPr txBox="1">
            <a:spLocks/>
          </p:cNvSpPr>
          <p:nvPr/>
        </p:nvSpPr>
        <p:spPr>
          <a:xfrm>
            <a:off x="626590" y="4552651"/>
            <a:ext cx="10854159" cy="189769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i="1" dirty="0">
                <a:solidFill>
                  <a:schemeClr val="bg2">
                    <a:lumMod val="75000"/>
                  </a:schemeClr>
                </a:solidFill>
              </a:rPr>
              <a:t>Coronary Artery Disease</a:t>
            </a:r>
          </a:p>
        </p:txBody>
      </p:sp>
    </p:spTree>
    <p:extLst>
      <p:ext uri="{BB962C8B-B14F-4D97-AF65-F5344CB8AC3E}">
        <p14:creationId xmlns:p14="http://schemas.microsoft.com/office/powerpoint/2010/main" val="3191412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652465-30DD-F8BE-3C29-3D862DE0CE46}"/>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797407BA-98B2-2FE7-3755-6E516EC9D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AD016A3-3A48-9E55-8C3A-5EEC69D433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00701A00-1AAF-EEDF-3F29-6C1192C517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31" name="Oval 30">
              <a:extLst>
                <a:ext uri="{FF2B5EF4-FFF2-40B4-BE49-F238E27FC236}">
                  <a16:creationId xmlns:a16="http://schemas.microsoft.com/office/drawing/2014/main" id="{91E84001-4316-EE61-F48A-F7CC2A8059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D1851857-43CF-2C0E-7F33-4FB0B91D3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6538B78C-2ED7-F1AA-23D5-5620ACF39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B99FEFF9-5172-232C-4030-634060C640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D86867E7-657B-B569-8E17-5D4344DD6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84B64459-86FE-DBFF-F77B-EAF4B3E49A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55CA1DA2-F9D8-7B64-3B2B-9399604445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9FF87189-60A4-F622-ABAF-476195FB89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41" name="Straight Connector 40">
              <a:extLst>
                <a:ext uri="{FF2B5EF4-FFF2-40B4-BE49-F238E27FC236}">
                  <a16:creationId xmlns:a16="http://schemas.microsoft.com/office/drawing/2014/main" id="{F4F07C08-4EF3-2B5E-A989-D36FBAF5386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397A1D9-60FC-09C6-2BBB-BF67E07DC2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304F25C-A18A-A902-0CAE-2FD96F17C0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CA0443A-CE1F-EE16-7E7D-43A1E3C5FC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BEE18041-5C9A-13DF-ACDB-D623057159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47" name="Straight Connector 46">
              <a:extLst>
                <a:ext uri="{FF2B5EF4-FFF2-40B4-BE49-F238E27FC236}">
                  <a16:creationId xmlns:a16="http://schemas.microsoft.com/office/drawing/2014/main" id="{9CD8ADEE-3EF0-7814-B9DE-CE192FF455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86CA608-F803-11F8-71C3-1CF45DCF8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AA6E0A5-C4C2-AB6F-5A26-22E88F01275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AFF0217-DF38-2F6F-DD72-1F884970CB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52" name="Rectangle 51">
            <a:extLst>
              <a:ext uri="{FF2B5EF4-FFF2-40B4-BE49-F238E27FC236}">
                <a16:creationId xmlns:a16="http://schemas.microsoft.com/office/drawing/2014/main" id="{40AF3E53-168A-3B78-E4F2-5ED617F5D2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 name="Group 53">
            <a:extLst>
              <a:ext uri="{FF2B5EF4-FFF2-40B4-BE49-F238E27FC236}">
                <a16:creationId xmlns:a16="http://schemas.microsoft.com/office/drawing/2014/main" id="{343A82BF-A680-FB07-434C-02C587B06F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55" name="Straight Connector 54">
              <a:extLst>
                <a:ext uri="{FF2B5EF4-FFF2-40B4-BE49-F238E27FC236}">
                  <a16:creationId xmlns:a16="http://schemas.microsoft.com/office/drawing/2014/main" id="{437E2AEE-3D56-ECA6-27C0-F18C8731F1F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859CD4C-E766-D456-088A-CA7DA151E7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E7686DE-7462-3E11-C06C-636B04A9AF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C64AFBD-9F15-6FED-196C-BCEBAB11485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9C62C7A-C993-EFA9-6037-4B49567AFF35}"/>
              </a:ext>
            </a:extLst>
          </p:cNvPr>
          <p:cNvSpPr>
            <a:spLocks noGrp="1"/>
          </p:cNvSpPr>
          <p:nvPr>
            <p:ph type="title"/>
          </p:nvPr>
        </p:nvSpPr>
        <p:spPr>
          <a:xfrm>
            <a:off x="629640" y="4038037"/>
            <a:ext cx="5107366" cy="2087424"/>
          </a:xfrm>
          <a:noFill/>
        </p:spPr>
        <p:txBody>
          <a:bodyPr vert="horz" lIns="91440" tIns="45720" rIns="91440" bIns="45720" rtlCol="0" anchor="t">
            <a:normAutofit/>
          </a:bodyPr>
          <a:lstStyle/>
          <a:p>
            <a:r>
              <a:rPr lang="en-US" sz="4800" kern="1200">
                <a:solidFill>
                  <a:schemeClr val="bg1"/>
                </a:solidFill>
                <a:latin typeface="+mj-lt"/>
                <a:ea typeface="+mj-ea"/>
                <a:cs typeface="+mj-cs"/>
              </a:rPr>
              <a:t>Motivation</a:t>
            </a:r>
          </a:p>
        </p:txBody>
      </p:sp>
      <p:grpSp>
        <p:nvGrpSpPr>
          <p:cNvPr id="60" name="Group 59">
            <a:extLst>
              <a:ext uri="{FF2B5EF4-FFF2-40B4-BE49-F238E27FC236}">
                <a16:creationId xmlns:a16="http://schemas.microsoft.com/office/drawing/2014/main" id="{A59C5714-5F03-FDB3-4012-B9686F2CA8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776904"/>
            <a:ext cx="304800" cy="429768"/>
            <a:chOff x="215328" y="-46937"/>
            <a:chExt cx="304800" cy="2773841"/>
          </a:xfrm>
        </p:grpSpPr>
        <p:cxnSp>
          <p:nvCxnSpPr>
            <p:cNvPr id="61" name="Straight Connector 60">
              <a:extLst>
                <a:ext uri="{FF2B5EF4-FFF2-40B4-BE49-F238E27FC236}">
                  <a16:creationId xmlns:a16="http://schemas.microsoft.com/office/drawing/2014/main" id="{4735C785-E136-4869-7D5E-9CA2AB087A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F9822FF-872D-616C-5BB6-1E66BFD11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ECEF904-D9D7-8E2F-7343-A9EFA7A93C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A2891F9-E85C-04DE-0A01-8203D7DC6A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3" name="Content Placeholder 4">
            <a:extLst>
              <a:ext uri="{FF2B5EF4-FFF2-40B4-BE49-F238E27FC236}">
                <a16:creationId xmlns:a16="http://schemas.microsoft.com/office/drawing/2014/main" id="{F1D2B1A5-97E1-7BAD-DA55-A6D3997FC7E7}"/>
              </a:ext>
            </a:extLst>
          </p:cNvPr>
          <p:cNvPicPr>
            <a:picLocks noChangeAspect="1"/>
          </p:cNvPicPr>
          <p:nvPr/>
        </p:nvPicPr>
        <p:blipFill>
          <a:blip r:embed="rId3"/>
          <a:stretch>
            <a:fillRect/>
          </a:stretch>
        </p:blipFill>
        <p:spPr>
          <a:xfrm>
            <a:off x="6679029" y="1408586"/>
            <a:ext cx="3752988" cy="3926249"/>
          </a:xfrm>
          <a:prstGeom prst="rect">
            <a:avLst/>
          </a:prstGeom>
        </p:spPr>
      </p:pic>
      <p:sp>
        <p:nvSpPr>
          <p:cNvPr id="7" name="Subtitle 2">
            <a:extLst>
              <a:ext uri="{FF2B5EF4-FFF2-40B4-BE49-F238E27FC236}">
                <a16:creationId xmlns:a16="http://schemas.microsoft.com/office/drawing/2014/main" id="{726C7547-08E3-6B87-BB27-0D48A0C161C6}"/>
              </a:ext>
            </a:extLst>
          </p:cNvPr>
          <p:cNvSpPr txBox="1">
            <a:spLocks/>
          </p:cNvSpPr>
          <p:nvPr/>
        </p:nvSpPr>
        <p:spPr>
          <a:xfrm>
            <a:off x="626591" y="1638215"/>
            <a:ext cx="9078628" cy="189769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i="1" dirty="0">
                <a:solidFill>
                  <a:schemeClr val="bg2">
                    <a:lumMod val="75000"/>
                  </a:schemeClr>
                </a:solidFill>
              </a:rPr>
              <a:t>Coronary Artery Disease</a:t>
            </a:r>
          </a:p>
        </p:txBody>
      </p:sp>
    </p:spTree>
    <p:extLst>
      <p:ext uri="{BB962C8B-B14F-4D97-AF65-F5344CB8AC3E}">
        <p14:creationId xmlns:p14="http://schemas.microsoft.com/office/powerpoint/2010/main" val="3499695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5D072C-14FA-F631-F6D1-9D302C3F466B}"/>
            </a:ext>
          </a:extLst>
        </p:cNvPr>
        <p:cNvGrpSpPr/>
        <p:nvPr/>
      </p:nvGrpSpPr>
      <p:grpSpPr>
        <a:xfrm>
          <a:off x="0" y="0"/>
          <a:ext cx="0" cy="0"/>
          <a:chOff x="0" y="0"/>
          <a:chExt cx="0" cy="0"/>
        </a:xfrm>
      </p:grpSpPr>
      <p:sp useBgFill="1">
        <p:nvSpPr>
          <p:cNvPr id="69" name="Rectangle 68">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C9D0-F89A-82BC-47D4-32FB5F81483C}"/>
              </a:ext>
            </a:extLst>
          </p:cNvPr>
          <p:cNvSpPr>
            <a:spLocks noGrp="1"/>
          </p:cNvSpPr>
          <p:nvPr>
            <p:ph type="title"/>
          </p:nvPr>
        </p:nvSpPr>
        <p:spPr>
          <a:xfrm>
            <a:off x="699714" y="5490971"/>
            <a:ext cx="6962072" cy="1159200"/>
          </a:xfrm>
        </p:spPr>
        <p:txBody>
          <a:bodyPr vert="horz" lIns="91440" tIns="45720" rIns="91440" bIns="45720" rtlCol="0" anchor="ctr">
            <a:normAutofit/>
          </a:bodyPr>
          <a:lstStyle/>
          <a:p>
            <a:r>
              <a:rPr lang="en-US" sz="4000" kern="1200">
                <a:solidFill>
                  <a:srgbClr val="FFFFFF"/>
                </a:solidFill>
                <a:latin typeface="+mj-lt"/>
                <a:ea typeface="+mj-ea"/>
                <a:cs typeface="+mj-cs"/>
              </a:rPr>
              <a:t>Motivation</a:t>
            </a:r>
          </a:p>
        </p:txBody>
      </p:sp>
      <p:sp>
        <p:nvSpPr>
          <p:cNvPr id="8" name="Subtitle 2">
            <a:extLst>
              <a:ext uri="{FF2B5EF4-FFF2-40B4-BE49-F238E27FC236}">
                <a16:creationId xmlns:a16="http://schemas.microsoft.com/office/drawing/2014/main" id="{00335A6D-1FD1-2BF7-8F1A-049194AAA492}"/>
              </a:ext>
            </a:extLst>
          </p:cNvPr>
          <p:cNvSpPr txBox="1">
            <a:spLocks/>
          </p:cNvSpPr>
          <p:nvPr/>
        </p:nvSpPr>
        <p:spPr>
          <a:xfrm>
            <a:off x="8456522" y="5633765"/>
            <a:ext cx="3408555" cy="873612"/>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kern="1200">
                <a:solidFill>
                  <a:srgbClr val="FFFFFF"/>
                </a:solidFill>
                <a:latin typeface="+mn-lt"/>
                <a:ea typeface="+mn-ea"/>
                <a:cs typeface="+mn-cs"/>
              </a:rPr>
              <a:t>Figure 1 from</a:t>
            </a:r>
            <a:r>
              <a:rPr lang="en-US" sz="2000" i="1" kern="1200">
                <a:solidFill>
                  <a:srgbClr val="FFFFFF"/>
                </a:solidFill>
                <a:latin typeface="+mn-lt"/>
                <a:ea typeface="+mn-ea"/>
                <a:cs typeface="+mn-cs"/>
              </a:rPr>
              <a:t> Salmanian et al. 2024</a:t>
            </a:r>
          </a:p>
        </p:txBody>
      </p:sp>
      <p:pic>
        <p:nvPicPr>
          <p:cNvPr id="5" name="Picture 4">
            <a:extLst>
              <a:ext uri="{FF2B5EF4-FFF2-40B4-BE49-F238E27FC236}">
                <a16:creationId xmlns:a16="http://schemas.microsoft.com/office/drawing/2014/main" id="{72B6D4D5-2351-E4F2-BB62-39B217687AE1}"/>
              </a:ext>
            </a:extLst>
          </p:cNvPr>
          <p:cNvPicPr>
            <a:picLocks noChangeAspect="1"/>
          </p:cNvPicPr>
          <p:nvPr/>
        </p:nvPicPr>
        <p:blipFill>
          <a:blip r:embed="rId3"/>
          <a:stretch>
            <a:fillRect/>
          </a:stretch>
        </p:blipFill>
        <p:spPr>
          <a:xfrm>
            <a:off x="1121072" y="390832"/>
            <a:ext cx="10042475" cy="4519114"/>
          </a:xfrm>
          <a:prstGeom prst="rect">
            <a:avLst/>
          </a:prstGeom>
        </p:spPr>
      </p:pic>
      <p:pic>
        <p:nvPicPr>
          <p:cNvPr id="9" name="Picture 8">
            <a:extLst>
              <a:ext uri="{FF2B5EF4-FFF2-40B4-BE49-F238E27FC236}">
                <a16:creationId xmlns:a16="http://schemas.microsoft.com/office/drawing/2014/main" id="{ADDFA0C8-7C56-8FFE-A8E9-D70C1C3D4CCB}"/>
              </a:ext>
            </a:extLst>
          </p:cNvPr>
          <p:cNvPicPr>
            <a:picLocks noChangeAspect="1"/>
          </p:cNvPicPr>
          <p:nvPr/>
        </p:nvPicPr>
        <p:blipFill>
          <a:blip r:embed="rId4"/>
          <a:stretch>
            <a:fillRect/>
          </a:stretch>
        </p:blipFill>
        <p:spPr>
          <a:xfrm>
            <a:off x="1613734" y="4715145"/>
            <a:ext cx="2159000" cy="254000"/>
          </a:xfrm>
          <a:prstGeom prst="rect">
            <a:avLst/>
          </a:prstGeom>
        </p:spPr>
      </p:pic>
    </p:spTree>
    <p:extLst>
      <p:ext uri="{BB962C8B-B14F-4D97-AF65-F5344CB8AC3E}">
        <p14:creationId xmlns:p14="http://schemas.microsoft.com/office/powerpoint/2010/main" val="3487490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C100E0-F127-2B01-847F-BEACB53F25B3}"/>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E8A80712-E75E-17B1-6A90-66702A58D3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C7863F1-ED6D-C38F-D7EB-8A85C36447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EE502E0-729C-E2DB-04E5-97D61D6CB2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A84E283-AD30-B461-4CA8-6C19F146E6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A1B0A00-FADB-EBF5-D055-F81DEF78EC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74B8A2B-710C-B549-B596-40BBC7F59C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B0D8A10-1840-9DA4-2893-0A123A6EA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C5A92A8-E653-36F0-4C61-C7E771602072}"/>
              </a:ext>
            </a:extLst>
          </p:cNvPr>
          <p:cNvSpPr>
            <a:spLocks noGrp="1"/>
          </p:cNvSpPr>
          <p:nvPr>
            <p:ph type="title"/>
          </p:nvPr>
        </p:nvSpPr>
        <p:spPr>
          <a:xfrm>
            <a:off x="3875714" y="818984"/>
            <a:ext cx="7001553" cy="3178689"/>
          </a:xfrm>
        </p:spPr>
        <p:txBody>
          <a:bodyPr vert="horz" lIns="91440" tIns="45720" rIns="91440" bIns="45720" rtlCol="0" anchor="b">
            <a:normAutofit/>
          </a:bodyPr>
          <a:lstStyle/>
          <a:p>
            <a:pPr algn="r"/>
            <a:r>
              <a:rPr lang="en-US" sz="4800" kern="1200" dirty="0">
                <a:solidFill>
                  <a:srgbClr val="FFFFFF"/>
                </a:solidFill>
                <a:latin typeface="+mj-lt"/>
                <a:ea typeface="+mj-ea"/>
                <a:cs typeface="+mj-cs"/>
              </a:rPr>
              <a:t>Review of Uniform Manifold Approximation Projection</a:t>
            </a:r>
          </a:p>
        </p:txBody>
      </p:sp>
      <p:sp>
        <p:nvSpPr>
          <p:cNvPr id="21" name="Rectangle 20">
            <a:extLst>
              <a:ext uri="{FF2B5EF4-FFF2-40B4-BE49-F238E27FC236}">
                <a16:creationId xmlns:a16="http://schemas.microsoft.com/office/drawing/2014/main" id="{D5BA6255-E773-321D-D2FD-17AD419D1A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4016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oup of people with different colored dots&#10;&#10;AI-generated content may be incorrect.">
            <a:extLst>
              <a:ext uri="{FF2B5EF4-FFF2-40B4-BE49-F238E27FC236}">
                <a16:creationId xmlns:a16="http://schemas.microsoft.com/office/drawing/2014/main" id="{0ACC1DE6-C93A-F7E8-3489-0AC6225C8EDE}"/>
              </a:ext>
            </a:extLst>
          </p:cNvPr>
          <p:cNvPicPr>
            <a:picLocks noChangeAspect="1"/>
          </p:cNvPicPr>
          <p:nvPr/>
        </p:nvPicPr>
        <p:blipFill>
          <a:blip r:embed="rId3"/>
          <a:srcRect t="6721"/>
          <a:stretch/>
        </p:blipFill>
        <p:spPr>
          <a:xfrm>
            <a:off x="457200" y="457200"/>
            <a:ext cx="11277600" cy="5943600"/>
          </a:xfrm>
          <a:prstGeom prst="rect">
            <a:avLst/>
          </a:prstGeom>
        </p:spPr>
      </p:pic>
    </p:spTree>
    <p:extLst>
      <p:ext uri="{BB962C8B-B14F-4D97-AF65-F5344CB8AC3E}">
        <p14:creationId xmlns:p14="http://schemas.microsoft.com/office/powerpoint/2010/main" val="4144071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oup of colorful dots&#10;&#10;AI-generated content may be incorrect.">
            <a:extLst>
              <a:ext uri="{FF2B5EF4-FFF2-40B4-BE49-F238E27FC236}">
                <a16:creationId xmlns:a16="http://schemas.microsoft.com/office/drawing/2014/main" id="{E263539D-FAD6-515B-E067-0B28FC3D24D6}"/>
              </a:ext>
            </a:extLst>
          </p:cNvPr>
          <p:cNvPicPr>
            <a:picLocks noChangeAspect="1"/>
          </p:cNvPicPr>
          <p:nvPr/>
        </p:nvPicPr>
        <p:blipFill>
          <a:blip r:embed="rId2"/>
          <a:stretch>
            <a:fillRect/>
          </a:stretch>
        </p:blipFill>
        <p:spPr>
          <a:xfrm>
            <a:off x="506501" y="402996"/>
            <a:ext cx="11178997" cy="6052008"/>
          </a:xfrm>
          <a:prstGeom prst="rect">
            <a:avLst/>
          </a:prstGeom>
        </p:spPr>
      </p:pic>
    </p:spTree>
    <p:extLst>
      <p:ext uri="{BB962C8B-B14F-4D97-AF65-F5344CB8AC3E}">
        <p14:creationId xmlns:p14="http://schemas.microsoft.com/office/powerpoint/2010/main" val="2979284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ack dots on a white background&#10;&#10;AI-generated content may be incorrect.">
            <a:extLst>
              <a:ext uri="{FF2B5EF4-FFF2-40B4-BE49-F238E27FC236}">
                <a16:creationId xmlns:a16="http://schemas.microsoft.com/office/drawing/2014/main" id="{C093C284-87B0-6522-6B0D-F68186480BFA}"/>
              </a:ext>
            </a:extLst>
          </p:cNvPr>
          <p:cNvPicPr>
            <a:picLocks noChangeAspect="1"/>
          </p:cNvPicPr>
          <p:nvPr/>
        </p:nvPicPr>
        <p:blipFill>
          <a:blip r:embed="rId2"/>
          <a:srcRect t="972" b="5748"/>
          <a:stretch/>
        </p:blipFill>
        <p:spPr>
          <a:xfrm>
            <a:off x="457200" y="457200"/>
            <a:ext cx="11277600" cy="5943600"/>
          </a:xfrm>
          <a:prstGeom prst="rect">
            <a:avLst/>
          </a:prstGeom>
        </p:spPr>
      </p:pic>
    </p:spTree>
    <p:extLst>
      <p:ext uri="{BB962C8B-B14F-4D97-AF65-F5344CB8AC3E}">
        <p14:creationId xmlns:p14="http://schemas.microsoft.com/office/powerpoint/2010/main" val="1936265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lose-up of a screen&#10;&#10;AI-generated content may be incorrect.">
            <a:extLst>
              <a:ext uri="{FF2B5EF4-FFF2-40B4-BE49-F238E27FC236}">
                <a16:creationId xmlns:a16="http://schemas.microsoft.com/office/drawing/2014/main" id="{116563BF-06C6-FEBB-D4B5-D25C669CC320}"/>
              </a:ext>
            </a:extLst>
          </p:cNvPr>
          <p:cNvPicPr>
            <a:picLocks noChangeAspect="1"/>
          </p:cNvPicPr>
          <p:nvPr/>
        </p:nvPicPr>
        <p:blipFill>
          <a:blip r:embed="rId2"/>
          <a:srcRect t="2085" b="4221"/>
          <a:stretch/>
        </p:blipFill>
        <p:spPr>
          <a:xfrm>
            <a:off x="457200" y="457200"/>
            <a:ext cx="11277600" cy="5943600"/>
          </a:xfrm>
          <a:prstGeom prst="rect">
            <a:avLst/>
          </a:prstGeom>
        </p:spPr>
      </p:pic>
    </p:spTree>
    <p:extLst>
      <p:ext uri="{BB962C8B-B14F-4D97-AF65-F5344CB8AC3E}">
        <p14:creationId xmlns:p14="http://schemas.microsoft.com/office/powerpoint/2010/main" val="2981084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81C6E5-14DF-B363-3686-98A76B4EFF68}"/>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95CF6AF-9814-6A78-7396-E7524D642B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9659794-BABF-17F0-C069-88012B394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000BD2-3801-D1E0-6281-A90F189A7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364B266-C552-3CFF-D36B-AF6F2AF623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4BB12D5-3F91-774F-115C-182C6EBD1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626A197-65AC-C215-57B3-3EA08C2D8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24E104BC-3469-EA55-D2C2-D406E55D6C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ECFD2E3-AD06-10F3-0E66-C7B084F3C558}"/>
              </a:ext>
            </a:extLst>
          </p:cNvPr>
          <p:cNvSpPr>
            <a:spLocks noGrp="1"/>
          </p:cNvSpPr>
          <p:nvPr>
            <p:ph type="title"/>
          </p:nvPr>
        </p:nvSpPr>
        <p:spPr>
          <a:xfrm>
            <a:off x="3053593" y="818984"/>
            <a:ext cx="7823675" cy="3178689"/>
          </a:xfrm>
        </p:spPr>
        <p:txBody>
          <a:bodyPr vert="horz" lIns="91440" tIns="45720" rIns="91440" bIns="45720" rtlCol="0" anchor="b">
            <a:normAutofit/>
          </a:bodyPr>
          <a:lstStyle/>
          <a:p>
            <a:pPr algn="r"/>
            <a:r>
              <a:rPr lang="en-US" sz="4800" kern="1200" dirty="0">
                <a:solidFill>
                  <a:srgbClr val="FFFFFF"/>
                </a:solidFill>
                <a:latin typeface="+mj-lt"/>
                <a:ea typeface="+mj-ea"/>
                <a:cs typeface="+mj-cs"/>
              </a:rPr>
              <a:t>Enter: </a:t>
            </a:r>
            <a:r>
              <a:rPr lang="en-US" sz="4800" kern="1200" dirty="0">
                <a:solidFill>
                  <a:schemeClr val="bg2">
                    <a:lumMod val="75000"/>
                  </a:schemeClr>
                </a:solidFill>
                <a:latin typeface="+mj-lt"/>
                <a:ea typeface="+mj-ea"/>
                <a:cs typeface="+mj-cs"/>
              </a:rPr>
              <a:t>Sandman</a:t>
            </a:r>
            <a:br>
              <a:rPr lang="en-US" sz="4800" kern="1200" dirty="0">
                <a:solidFill>
                  <a:srgbClr val="FFFFFF"/>
                </a:solidFill>
                <a:latin typeface="+mj-lt"/>
                <a:ea typeface="+mj-ea"/>
                <a:cs typeface="+mj-cs"/>
              </a:rPr>
            </a:br>
            <a:r>
              <a:rPr lang="en-US" sz="4800" kern="1200" dirty="0">
                <a:solidFill>
                  <a:srgbClr val="FFFFFF"/>
                </a:solidFill>
                <a:latin typeface="+mj-lt"/>
                <a:ea typeface="+mj-ea"/>
                <a:cs typeface="+mj-cs"/>
              </a:rPr>
              <a:t> Explainable Boosting Machine</a:t>
            </a:r>
          </a:p>
        </p:txBody>
      </p:sp>
      <p:sp>
        <p:nvSpPr>
          <p:cNvPr id="21" name="Rectangle 20">
            <a:extLst>
              <a:ext uri="{FF2B5EF4-FFF2-40B4-BE49-F238E27FC236}">
                <a16:creationId xmlns:a16="http://schemas.microsoft.com/office/drawing/2014/main" id="{6C6023BC-8EB3-6545-F1E2-155A012DD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16E43A4-6AA8-ABE5-B633-748BF912A6BD}"/>
              </a:ext>
            </a:extLst>
          </p:cNvPr>
          <p:cNvSpPr/>
          <p:nvPr/>
        </p:nvSpPr>
        <p:spPr>
          <a:xfrm>
            <a:off x="8330268" y="2919369"/>
            <a:ext cx="2488277" cy="755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488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7C0CB9-1B26-4A22-A90B-1EE6BFFD50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8143209-FADD-4B7E-A49A-BBA97A4E6E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444035" cy="6858000"/>
          </a:xfrm>
          <a:prstGeom prst="rect">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sp>
        <p:nvSpPr>
          <p:cNvPr id="2" name="Title 1">
            <a:extLst>
              <a:ext uri="{FF2B5EF4-FFF2-40B4-BE49-F238E27FC236}">
                <a16:creationId xmlns:a16="http://schemas.microsoft.com/office/drawing/2014/main" id="{BFC73649-4632-4492-2A65-A4E1990A4379}"/>
              </a:ext>
            </a:extLst>
          </p:cNvPr>
          <p:cNvSpPr>
            <a:spLocks noGrp="1"/>
          </p:cNvSpPr>
          <p:nvPr>
            <p:ph type="title"/>
          </p:nvPr>
        </p:nvSpPr>
        <p:spPr>
          <a:xfrm>
            <a:off x="421920" y="380666"/>
            <a:ext cx="4535561" cy="3137981"/>
          </a:xfrm>
        </p:spPr>
        <p:txBody>
          <a:bodyPr anchor="ctr">
            <a:normAutofit/>
          </a:bodyPr>
          <a:lstStyle/>
          <a:p>
            <a:pPr algn="ctr"/>
            <a:r>
              <a:rPr lang="en-US" sz="3200" dirty="0">
                <a:solidFill>
                  <a:schemeClr val="bg1">
                    <a:alpha val="60000"/>
                  </a:schemeClr>
                </a:solidFill>
              </a:rPr>
              <a:t>EBM </a:t>
            </a:r>
          </a:p>
        </p:txBody>
      </p:sp>
      <p:pic>
        <p:nvPicPr>
          <p:cNvPr id="4" name="Picture 3">
            <a:extLst>
              <a:ext uri="{FF2B5EF4-FFF2-40B4-BE49-F238E27FC236}">
                <a16:creationId xmlns:a16="http://schemas.microsoft.com/office/drawing/2014/main" id="{0DE109AB-8DCB-88DE-065B-3E990E770CA6}"/>
              </a:ext>
            </a:extLst>
          </p:cNvPr>
          <p:cNvPicPr>
            <a:picLocks noChangeAspect="1"/>
          </p:cNvPicPr>
          <p:nvPr/>
        </p:nvPicPr>
        <p:blipFill>
          <a:blip r:embed="rId3"/>
          <a:srcRect l="491" r="-1427"/>
          <a:stretch/>
        </p:blipFill>
        <p:spPr>
          <a:xfrm>
            <a:off x="6980955" y="637342"/>
            <a:ext cx="3674124" cy="1017449"/>
          </a:xfrm>
          <a:prstGeom prst="rect">
            <a:avLst/>
          </a:prstGeom>
        </p:spPr>
      </p:pic>
      <p:sp>
        <p:nvSpPr>
          <p:cNvPr id="3" name="Content Placeholder 2">
            <a:extLst>
              <a:ext uri="{FF2B5EF4-FFF2-40B4-BE49-F238E27FC236}">
                <a16:creationId xmlns:a16="http://schemas.microsoft.com/office/drawing/2014/main" id="{28202861-DA99-8042-4E17-E05EF438B3F7}"/>
              </a:ext>
            </a:extLst>
          </p:cNvPr>
          <p:cNvSpPr>
            <a:spLocks noGrp="1"/>
          </p:cNvSpPr>
          <p:nvPr>
            <p:ph idx="1"/>
          </p:nvPr>
        </p:nvSpPr>
        <p:spPr>
          <a:xfrm>
            <a:off x="421922" y="3660142"/>
            <a:ext cx="4535560" cy="2729741"/>
          </a:xfrm>
        </p:spPr>
        <p:txBody>
          <a:bodyPr anchor="t">
            <a:normAutofit/>
          </a:bodyPr>
          <a:lstStyle/>
          <a:p>
            <a:r>
              <a:rPr lang="en-US" sz="2000" dirty="0">
                <a:solidFill>
                  <a:schemeClr val="bg1"/>
                </a:solidFill>
              </a:rPr>
              <a:t>Nonlinear</a:t>
            </a:r>
          </a:p>
          <a:p>
            <a:r>
              <a:rPr lang="en-US" sz="2000" dirty="0">
                <a:solidFill>
                  <a:schemeClr val="bg1"/>
                </a:solidFill>
              </a:rPr>
              <a:t>Iterative</a:t>
            </a:r>
          </a:p>
          <a:p>
            <a:r>
              <a:rPr lang="en-US" sz="2000" dirty="0">
                <a:solidFill>
                  <a:schemeClr val="bg1"/>
                </a:solidFill>
              </a:rPr>
              <a:t>Parallel</a:t>
            </a:r>
          </a:p>
          <a:p>
            <a:r>
              <a:rPr lang="en-US" sz="2000" dirty="0">
                <a:solidFill>
                  <a:schemeClr val="bg1"/>
                </a:solidFill>
              </a:rPr>
              <a:t>Classification &amp; Regression</a:t>
            </a:r>
          </a:p>
          <a:p>
            <a:r>
              <a:rPr lang="en-US" sz="2000" dirty="0">
                <a:solidFill>
                  <a:schemeClr val="bg1"/>
                </a:solidFill>
              </a:rPr>
              <a:t>Explainability</a:t>
            </a:r>
          </a:p>
          <a:p>
            <a:endParaRPr lang="en-US" sz="2000" dirty="0">
              <a:solidFill>
                <a:schemeClr val="bg1"/>
              </a:solidFill>
            </a:endParaRPr>
          </a:p>
        </p:txBody>
      </p:sp>
      <p:pic>
        <p:nvPicPr>
          <p:cNvPr id="5" name="Picture 4">
            <a:extLst>
              <a:ext uri="{FF2B5EF4-FFF2-40B4-BE49-F238E27FC236}">
                <a16:creationId xmlns:a16="http://schemas.microsoft.com/office/drawing/2014/main" id="{281A74FA-6B55-6C7A-A639-10844E414E3E}"/>
              </a:ext>
            </a:extLst>
          </p:cNvPr>
          <p:cNvPicPr>
            <a:picLocks noChangeAspect="1"/>
          </p:cNvPicPr>
          <p:nvPr/>
        </p:nvPicPr>
        <p:blipFill>
          <a:blip r:embed="rId4"/>
          <a:stretch>
            <a:fillRect/>
          </a:stretch>
        </p:blipFill>
        <p:spPr>
          <a:xfrm>
            <a:off x="6024283" y="2696984"/>
            <a:ext cx="5674079" cy="3161196"/>
          </a:xfrm>
          <a:prstGeom prst="rect">
            <a:avLst/>
          </a:prstGeom>
        </p:spPr>
      </p:pic>
    </p:spTree>
    <p:extLst>
      <p:ext uri="{BB962C8B-B14F-4D97-AF65-F5344CB8AC3E}">
        <p14:creationId xmlns:p14="http://schemas.microsoft.com/office/powerpoint/2010/main" val="3039585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052029-1349-0854-872F-FB08D3D3EC60}"/>
              </a:ext>
            </a:extLst>
          </p:cNvPr>
          <p:cNvSpPr>
            <a:spLocks noGrp="1"/>
          </p:cNvSpPr>
          <p:nvPr>
            <p:ph type="title"/>
          </p:nvPr>
        </p:nvSpPr>
        <p:spPr>
          <a:xfrm>
            <a:off x="1371599" y="5510253"/>
            <a:ext cx="9895951" cy="1033669"/>
          </a:xfrm>
        </p:spPr>
        <p:txBody>
          <a:bodyPr>
            <a:normAutofit/>
          </a:bodyPr>
          <a:lstStyle/>
          <a:p>
            <a:r>
              <a:rPr lang="en-US" sz="4000" dirty="0">
                <a:solidFill>
                  <a:srgbClr val="FFFFFF"/>
                </a:solidFill>
              </a:rPr>
              <a:t>Insulin / Skin Thick Cluster</a:t>
            </a:r>
          </a:p>
        </p:txBody>
      </p:sp>
      <p:pic>
        <p:nvPicPr>
          <p:cNvPr id="4" name="Picture 3">
            <a:extLst>
              <a:ext uri="{FF2B5EF4-FFF2-40B4-BE49-F238E27FC236}">
                <a16:creationId xmlns:a16="http://schemas.microsoft.com/office/drawing/2014/main" id="{FA8AAE8A-0BE6-A5ED-D8B7-EDA550AFA296}"/>
              </a:ext>
            </a:extLst>
          </p:cNvPr>
          <p:cNvPicPr>
            <a:picLocks noChangeAspect="1"/>
          </p:cNvPicPr>
          <p:nvPr/>
        </p:nvPicPr>
        <p:blipFill>
          <a:blip r:embed="rId2"/>
          <a:stretch>
            <a:fillRect/>
          </a:stretch>
        </p:blipFill>
        <p:spPr>
          <a:xfrm>
            <a:off x="1226785" y="314078"/>
            <a:ext cx="9731758" cy="4379292"/>
          </a:xfrm>
          <a:prstGeom prst="rect">
            <a:avLst/>
          </a:prstGeom>
        </p:spPr>
      </p:pic>
      <p:pic>
        <p:nvPicPr>
          <p:cNvPr id="6" name="Picture 5">
            <a:extLst>
              <a:ext uri="{FF2B5EF4-FFF2-40B4-BE49-F238E27FC236}">
                <a16:creationId xmlns:a16="http://schemas.microsoft.com/office/drawing/2014/main" id="{B70D14D3-55E9-935F-5FB4-3C921DB4AEA8}"/>
              </a:ext>
            </a:extLst>
          </p:cNvPr>
          <p:cNvPicPr>
            <a:picLocks noChangeAspect="1"/>
          </p:cNvPicPr>
          <p:nvPr/>
        </p:nvPicPr>
        <p:blipFill>
          <a:blip r:embed="rId3"/>
          <a:stretch>
            <a:fillRect/>
          </a:stretch>
        </p:blipFill>
        <p:spPr>
          <a:xfrm>
            <a:off x="1643714" y="4439798"/>
            <a:ext cx="2159000" cy="254000"/>
          </a:xfrm>
          <a:prstGeom prst="rect">
            <a:avLst/>
          </a:prstGeom>
        </p:spPr>
      </p:pic>
    </p:spTree>
    <p:extLst>
      <p:ext uri="{BB962C8B-B14F-4D97-AF65-F5344CB8AC3E}">
        <p14:creationId xmlns:p14="http://schemas.microsoft.com/office/powerpoint/2010/main" val="2199242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9E4627-AE1F-082F-823F-5A88FFCC503B}"/>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68245F4-683F-666A-3830-5EC385A3B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CD11C13-6BA4-1032-F14C-8E0DF10DB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02DDAB1-C68F-35C4-F880-C5A4C38799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FD694A6-1ED5-1AD2-8C05-90ECC6423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71918F-A8B1-621D-B1ED-7776A195B9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477B7AD-0589-A29A-ED68-EBD68020A3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2D2C32E4-8096-6102-78E4-2C1F5C3A6A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5585898B-B8DB-C408-19F4-1D7A75078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904FBD4A-573B-901B-6763-033B2D4C8DF7}"/>
              </a:ext>
            </a:extLst>
          </p:cNvPr>
          <p:cNvSpPr txBox="1">
            <a:spLocks/>
          </p:cNvSpPr>
          <p:nvPr/>
        </p:nvSpPr>
        <p:spPr>
          <a:xfrm>
            <a:off x="2110135" y="698044"/>
            <a:ext cx="8763655" cy="32996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br>
              <a:rPr lang="en-US" sz="4800" dirty="0">
                <a:solidFill>
                  <a:srgbClr val="FFFFFF"/>
                </a:solidFill>
              </a:rPr>
            </a:br>
            <a:br>
              <a:rPr lang="en-US" sz="4800" dirty="0">
                <a:solidFill>
                  <a:srgbClr val="FFFFFF"/>
                </a:solidFill>
              </a:rPr>
            </a:br>
            <a:r>
              <a:rPr lang="en-US" sz="4800" dirty="0">
                <a:solidFill>
                  <a:srgbClr val="FFFFFF"/>
                </a:solidFill>
              </a:rPr>
              <a:t>Test Example:</a:t>
            </a:r>
            <a:br>
              <a:rPr lang="en-US" sz="4800" dirty="0">
                <a:solidFill>
                  <a:srgbClr val="FFFFFF"/>
                </a:solidFill>
              </a:rPr>
            </a:br>
            <a:r>
              <a:rPr lang="en-US" sz="4800" dirty="0">
                <a:solidFill>
                  <a:srgbClr val="FFFFFF"/>
                </a:solidFill>
              </a:rPr>
              <a:t>Linearly Sep. 3D DR Classification</a:t>
            </a:r>
          </a:p>
        </p:txBody>
      </p:sp>
    </p:spTree>
    <p:extLst>
      <p:ext uri="{BB962C8B-B14F-4D97-AF65-F5344CB8AC3E}">
        <p14:creationId xmlns:p14="http://schemas.microsoft.com/office/powerpoint/2010/main" val="2119680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B8E1C4-7A86-39E6-FC3C-CCF8FDCB015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8D0C4AE-286B-62DB-8ADF-CDF01AA3E6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E28BDEB-2420-47AE-D0B0-B38A66118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F0E7BA4-691F-5DD5-22C1-BFB8FCA95E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4808DE8-1DD7-3F0E-D189-0E4AF33C88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1D5EE82E-D3DD-2E60-3BF1-9BD92F84ED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75BE283-D14D-F2A2-6761-82B568DC8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AE3C9B3D-EF36-3696-610C-468D101F8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F5239F2-C067-4926-C3B4-B6A86AE40682}"/>
              </a:ext>
            </a:extLst>
          </p:cNvPr>
          <p:cNvSpPr>
            <a:spLocks noGrp="1"/>
          </p:cNvSpPr>
          <p:nvPr>
            <p:ph type="ctrTitle"/>
          </p:nvPr>
        </p:nvSpPr>
        <p:spPr>
          <a:xfrm>
            <a:off x="2026693" y="1030405"/>
            <a:ext cx="8147713" cy="4729039"/>
          </a:xfrm>
        </p:spPr>
        <p:txBody>
          <a:bodyPr anchor="ctr">
            <a:normAutofit/>
          </a:bodyPr>
          <a:lstStyle/>
          <a:p>
            <a:r>
              <a:rPr lang="en-US" sz="5800" dirty="0">
                <a:solidFill>
                  <a:srgbClr val="FFFFFF"/>
                </a:solidFill>
              </a:rPr>
              <a:t>DEMO</a:t>
            </a:r>
          </a:p>
        </p:txBody>
      </p:sp>
    </p:spTree>
    <p:extLst>
      <p:ext uri="{BB962C8B-B14F-4D97-AF65-F5344CB8AC3E}">
        <p14:creationId xmlns:p14="http://schemas.microsoft.com/office/powerpoint/2010/main" val="3416485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BF5342-5979-D0F4-CCFF-3414FB0E18B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060CB42-DA9B-F82D-C52F-D29FB5FD3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EC0698C-1EAE-2639-1DAB-59DD596740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0620C36-1A71-2E32-E948-24773CAD61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D7D7B83-241A-A0B1-AE16-148F2C7922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6C66F9D1-BFD8-9E91-3CC5-48AEA712EF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C200CC2-58B4-278A-AD2E-8EDDA32BCECB}"/>
              </a:ext>
            </a:extLst>
          </p:cNvPr>
          <p:cNvSpPr>
            <a:spLocks noGrp="1"/>
          </p:cNvSpPr>
          <p:nvPr>
            <p:ph type="title"/>
          </p:nvPr>
        </p:nvSpPr>
        <p:spPr>
          <a:xfrm>
            <a:off x="373767" y="2812262"/>
            <a:ext cx="3291070"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3D Classification DR</a:t>
            </a:r>
          </a:p>
        </p:txBody>
      </p:sp>
      <p:pic>
        <p:nvPicPr>
          <p:cNvPr id="7" name="Content Placeholder 6">
            <a:extLst>
              <a:ext uri="{FF2B5EF4-FFF2-40B4-BE49-F238E27FC236}">
                <a16:creationId xmlns:a16="http://schemas.microsoft.com/office/drawing/2014/main" id="{015134D5-FE9D-B318-3F36-874D10A4ACE0}"/>
              </a:ext>
            </a:extLst>
          </p:cNvPr>
          <p:cNvPicPr>
            <a:picLocks noGrp="1" noChangeAspect="1"/>
          </p:cNvPicPr>
          <p:nvPr>
            <p:ph idx="1"/>
          </p:nvPr>
        </p:nvPicPr>
        <p:blipFill>
          <a:blip r:embed="rId2"/>
          <a:stretch>
            <a:fillRect/>
          </a:stretch>
        </p:blipFill>
        <p:spPr>
          <a:xfrm>
            <a:off x="5615969" y="1403135"/>
            <a:ext cx="5207000" cy="4051300"/>
          </a:xfrm>
        </p:spPr>
      </p:pic>
    </p:spTree>
    <p:extLst>
      <p:ext uri="{BB962C8B-B14F-4D97-AF65-F5344CB8AC3E}">
        <p14:creationId xmlns:p14="http://schemas.microsoft.com/office/powerpoint/2010/main" val="412349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6D879C-378D-1105-A313-6B145A1D29E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2D34F7A-0E79-0404-DB5B-9603ABB08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6E89D1-EE32-F646-DD0E-1C896F18ED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6999FE4B-4B7B-C2F6-AE53-3061A7F35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B30DB8-CBBF-FE29-9ADC-460D4D288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9EFD3F59-9157-BAFB-E693-C4F53B72A3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69AC72-408D-AD19-927F-E52C8D0ED47E}"/>
              </a:ext>
            </a:extLst>
          </p:cNvPr>
          <p:cNvSpPr>
            <a:spLocks noGrp="1"/>
          </p:cNvSpPr>
          <p:nvPr>
            <p:ph type="title"/>
          </p:nvPr>
        </p:nvSpPr>
        <p:spPr>
          <a:xfrm>
            <a:off x="373767" y="2812262"/>
            <a:ext cx="3291070"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3D Classification DR</a:t>
            </a:r>
          </a:p>
        </p:txBody>
      </p:sp>
      <p:pic>
        <p:nvPicPr>
          <p:cNvPr id="6" name="Picture 5">
            <a:extLst>
              <a:ext uri="{FF2B5EF4-FFF2-40B4-BE49-F238E27FC236}">
                <a16:creationId xmlns:a16="http://schemas.microsoft.com/office/drawing/2014/main" id="{AFBA3414-D89D-73BE-F3DF-93759D56625C}"/>
              </a:ext>
            </a:extLst>
          </p:cNvPr>
          <p:cNvPicPr>
            <a:picLocks noChangeAspect="1"/>
          </p:cNvPicPr>
          <p:nvPr/>
        </p:nvPicPr>
        <p:blipFill>
          <a:blip r:embed="rId2"/>
          <a:stretch>
            <a:fillRect/>
          </a:stretch>
        </p:blipFill>
        <p:spPr>
          <a:xfrm>
            <a:off x="5977919" y="1263435"/>
            <a:ext cx="4483100" cy="4330700"/>
          </a:xfrm>
          <a:prstGeom prst="rect">
            <a:avLst/>
          </a:prstGeom>
        </p:spPr>
      </p:pic>
    </p:spTree>
    <p:extLst>
      <p:ext uri="{BB962C8B-B14F-4D97-AF65-F5344CB8AC3E}">
        <p14:creationId xmlns:p14="http://schemas.microsoft.com/office/powerpoint/2010/main" val="3743684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1984A6-FF9D-1F86-5726-1F1C18B6846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675501-0832-060A-A87F-1EF238245E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DD508F-6404-DF02-46A8-0849D794A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A334B7F-A544-A3AE-B986-1585A6E75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B922670-EE53-77BA-2FDF-856D3D8F33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54FCF4E7-6455-C78A-829D-B2394BD31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6BB24F3-F281-E52F-E99C-0E6C45F26D2D}"/>
              </a:ext>
            </a:extLst>
          </p:cNvPr>
          <p:cNvSpPr>
            <a:spLocks noGrp="1"/>
          </p:cNvSpPr>
          <p:nvPr>
            <p:ph type="title"/>
          </p:nvPr>
        </p:nvSpPr>
        <p:spPr>
          <a:xfrm>
            <a:off x="373767" y="2812262"/>
            <a:ext cx="3291070"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3D Classification DR</a:t>
            </a:r>
          </a:p>
        </p:txBody>
      </p:sp>
      <p:pic>
        <p:nvPicPr>
          <p:cNvPr id="4" name="Picture 3">
            <a:extLst>
              <a:ext uri="{FF2B5EF4-FFF2-40B4-BE49-F238E27FC236}">
                <a16:creationId xmlns:a16="http://schemas.microsoft.com/office/drawing/2014/main" id="{FA81CB59-2FEF-9169-4C48-8447EC906293}"/>
              </a:ext>
            </a:extLst>
          </p:cNvPr>
          <p:cNvPicPr>
            <a:picLocks noChangeAspect="1"/>
          </p:cNvPicPr>
          <p:nvPr/>
        </p:nvPicPr>
        <p:blipFill>
          <a:blip r:embed="rId2"/>
          <a:stretch>
            <a:fillRect/>
          </a:stretch>
        </p:blipFill>
        <p:spPr>
          <a:xfrm>
            <a:off x="4870988" y="269259"/>
            <a:ext cx="6362700" cy="6337300"/>
          </a:xfrm>
          <a:prstGeom prst="rect">
            <a:avLst/>
          </a:prstGeom>
        </p:spPr>
      </p:pic>
    </p:spTree>
    <p:extLst>
      <p:ext uri="{BB962C8B-B14F-4D97-AF65-F5344CB8AC3E}">
        <p14:creationId xmlns:p14="http://schemas.microsoft.com/office/powerpoint/2010/main" val="2050070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98AB60-02EC-5D33-F1B0-86AE3100701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D6AFBBD-E282-925E-D20E-1A55AE68D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261E02C-8104-462F-F94C-2770277599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B4D1814-4145-45A1-1B1D-29DEB1D938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AE9CE3D-E6D3-4ABE-D670-0597278DC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D64988E2-49EF-B816-1F81-013448570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77FEA06-0D4A-E499-B41C-B56609DC8172}"/>
              </a:ext>
            </a:extLst>
          </p:cNvPr>
          <p:cNvSpPr>
            <a:spLocks noGrp="1"/>
          </p:cNvSpPr>
          <p:nvPr>
            <p:ph type="title"/>
          </p:nvPr>
        </p:nvSpPr>
        <p:spPr>
          <a:xfrm>
            <a:off x="373767" y="2812262"/>
            <a:ext cx="3291070"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3D Classification DR</a:t>
            </a:r>
          </a:p>
        </p:txBody>
      </p:sp>
      <p:pic>
        <p:nvPicPr>
          <p:cNvPr id="4" name="Picture 3">
            <a:extLst>
              <a:ext uri="{FF2B5EF4-FFF2-40B4-BE49-F238E27FC236}">
                <a16:creationId xmlns:a16="http://schemas.microsoft.com/office/drawing/2014/main" id="{17B55894-EBD6-ADC1-5DF3-920A0967D3FD}"/>
              </a:ext>
            </a:extLst>
          </p:cNvPr>
          <p:cNvPicPr>
            <a:picLocks noChangeAspect="1"/>
          </p:cNvPicPr>
          <p:nvPr/>
        </p:nvPicPr>
        <p:blipFill>
          <a:blip r:embed="rId2"/>
          <a:stretch>
            <a:fillRect/>
          </a:stretch>
        </p:blipFill>
        <p:spPr>
          <a:xfrm>
            <a:off x="4986570" y="262909"/>
            <a:ext cx="6362700" cy="6350000"/>
          </a:xfrm>
          <a:prstGeom prst="rect">
            <a:avLst/>
          </a:prstGeom>
        </p:spPr>
      </p:pic>
    </p:spTree>
    <p:extLst>
      <p:ext uri="{BB962C8B-B14F-4D97-AF65-F5344CB8AC3E}">
        <p14:creationId xmlns:p14="http://schemas.microsoft.com/office/powerpoint/2010/main" val="4191638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43680F-037C-814F-5CE5-44584E952FA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3F131C5-D9D8-2634-709B-32EA85F04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7FB0E3F-1D0B-625A-55AB-8CCCE0061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9A1B587B-8C16-EBC3-30B1-7C4A381FC3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49A34E5-0947-FF20-54DF-1D68703E98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8FC2D17D-3C22-F609-844F-4236BB6F4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82DA375-E3F3-002B-C1BB-035266FDB21E}"/>
              </a:ext>
            </a:extLst>
          </p:cNvPr>
          <p:cNvSpPr>
            <a:spLocks noGrp="1"/>
          </p:cNvSpPr>
          <p:nvPr>
            <p:ph type="title"/>
          </p:nvPr>
        </p:nvSpPr>
        <p:spPr>
          <a:xfrm>
            <a:off x="373767" y="2812262"/>
            <a:ext cx="3291070"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3D Classification DR</a:t>
            </a:r>
          </a:p>
        </p:txBody>
      </p:sp>
      <p:pic>
        <p:nvPicPr>
          <p:cNvPr id="5" name="Picture 4">
            <a:extLst>
              <a:ext uri="{FF2B5EF4-FFF2-40B4-BE49-F238E27FC236}">
                <a16:creationId xmlns:a16="http://schemas.microsoft.com/office/drawing/2014/main" id="{5580FEBF-2D1F-ABB6-7985-8BC94BA1E61F}"/>
              </a:ext>
            </a:extLst>
          </p:cNvPr>
          <p:cNvPicPr>
            <a:picLocks noChangeAspect="1"/>
          </p:cNvPicPr>
          <p:nvPr/>
        </p:nvPicPr>
        <p:blipFill>
          <a:blip r:embed="rId2"/>
          <a:stretch>
            <a:fillRect/>
          </a:stretch>
        </p:blipFill>
        <p:spPr>
          <a:xfrm>
            <a:off x="4161962" y="1953933"/>
            <a:ext cx="7772400" cy="3435190"/>
          </a:xfrm>
          <a:prstGeom prst="rect">
            <a:avLst/>
          </a:prstGeom>
        </p:spPr>
      </p:pic>
    </p:spTree>
    <p:extLst>
      <p:ext uri="{BB962C8B-B14F-4D97-AF65-F5344CB8AC3E}">
        <p14:creationId xmlns:p14="http://schemas.microsoft.com/office/powerpoint/2010/main" val="2633842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95B6B4-695A-DB48-5350-F82823AB9080}"/>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791A0A9-CD23-0673-2EB7-3B4B45E7E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D99B517-88F8-93B1-1E65-E7E62D3F1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F032A41-BA60-EB49-9C46-33C44DD0C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0DBC385-FC78-B47B-3EFA-52FED19E74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2DC1842-DED8-3313-59A6-4E32284ACB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CD57D7C-0F78-88DD-54E6-055A987C8E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5D85AFF-D0BE-B012-921F-6C525D234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320949E-D01E-84F4-89AD-66E80E9BC2BA}"/>
              </a:ext>
            </a:extLst>
          </p:cNvPr>
          <p:cNvSpPr>
            <a:spLocks noGrp="1"/>
          </p:cNvSpPr>
          <p:nvPr>
            <p:ph type="title"/>
          </p:nvPr>
        </p:nvSpPr>
        <p:spPr>
          <a:xfrm>
            <a:off x="2895549" y="1993899"/>
            <a:ext cx="7823675" cy="3178689"/>
          </a:xfrm>
        </p:spPr>
        <p:txBody>
          <a:bodyPr vert="horz" lIns="91440" tIns="45720" rIns="91440" bIns="45720" rtlCol="0" anchor="b">
            <a:normAutofit/>
          </a:bodyPr>
          <a:lstStyle/>
          <a:p>
            <a:pPr algn="r"/>
            <a:br>
              <a:rPr lang="en-US" sz="4800" kern="1200" dirty="0">
                <a:solidFill>
                  <a:srgbClr val="FFFFFF"/>
                </a:solidFill>
                <a:latin typeface="+mj-lt"/>
                <a:ea typeface="+mj-ea"/>
                <a:cs typeface="+mj-cs"/>
              </a:rPr>
            </a:br>
            <a:r>
              <a:rPr lang="en-US" sz="4800" kern="1200" dirty="0">
                <a:solidFill>
                  <a:srgbClr val="FFFFFF"/>
                </a:solidFill>
                <a:latin typeface="+mj-lt"/>
                <a:ea typeface="+mj-ea"/>
                <a:cs typeface="+mj-cs"/>
              </a:rPr>
              <a:t>Practical Example 1</a:t>
            </a:r>
            <a:br>
              <a:rPr lang="en-US" sz="4800" kern="1200" dirty="0">
                <a:solidFill>
                  <a:srgbClr val="FFFFFF"/>
                </a:solidFill>
                <a:latin typeface="+mj-lt"/>
                <a:ea typeface="+mj-ea"/>
                <a:cs typeface="+mj-cs"/>
              </a:rPr>
            </a:br>
            <a:br>
              <a:rPr lang="en-US" sz="4800" kern="1200" dirty="0">
                <a:solidFill>
                  <a:srgbClr val="FFFFFF"/>
                </a:solidFill>
                <a:latin typeface="+mj-lt"/>
                <a:ea typeface="+mj-ea"/>
                <a:cs typeface="+mj-cs"/>
              </a:rPr>
            </a:br>
            <a:r>
              <a:rPr lang="en-US" i="1" kern="1200" dirty="0">
                <a:solidFill>
                  <a:srgbClr val="FFFFFF"/>
                </a:solidFill>
                <a:latin typeface="+mj-lt"/>
                <a:ea typeface="+mj-ea"/>
                <a:cs typeface="+mj-cs"/>
              </a:rPr>
              <a:t>Coronary Artery Disease</a:t>
            </a:r>
          </a:p>
        </p:txBody>
      </p:sp>
      <p:sp>
        <p:nvSpPr>
          <p:cNvPr id="21" name="Rectangle 20">
            <a:extLst>
              <a:ext uri="{FF2B5EF4-FFF2-40B4-BE49-F238E27FC236}">
                <a16:creationId xmlns:a16="http://schemas.microsoft.com/office/drawing/2014/main" id="{374EB091-46DB-87A1-F77F-5BF08E6F1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8469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184C357-2734-16C8-AB51-C37CA19C75DA}"/>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Coronary Artery Disease</a:t>
            </a:r>
          </a:p>
        </p:txBody>
      </p:sp>
      <p:pic>
        <p:nvPicPr>
          <p:cNvPr id="5" name="Content Placeholder 4">
            <a:extLst>
              <a:ext uri="{FF2B5EF4-FFF2-40B4-BE49-F238E27FC236}">
                <a16:creationId xmlns:a16="http://schemas.microsoft.com/office/drawing/2014/main" id="{378AFDEC-2E2B-5553-0562-162F86CEFC70}"/>
              </a:ext>
            </a:extLst>
          </p:cNvPr>
          <p:cNvPicPr>
            <a:picLocks noGrp="1" noChangeAspect="1"/>
          </p:cNvPicPr>
          <p:nvPr>
            <p:ph idx="1"/>
          </p:nvPr>
        </p:nvPicPr>
        <p:blipFill>
          <a:blip r:embed="rId2"/>
          <a:stretch>
            <a:fillRect/>
          </a:stretch>
        </p:blipFill>
        <p:spPr>
          <a:xfrm>
            <a:off x="5160915" y="467208"/>
            <a:ext cx="5908773" cy="5923584"/>
          </a:xfrm>
          <a:prstGeom prst="rect">
            <a:avLst/>
          </a:prstGeom>
        </p:spPr>
      </p:pic>
    </p:spTree>
    <p:extLst>
      <p:ext uri="{BB962C8B-B14F-4D97-AF65-F5344CB8AC3E}">
        <p14:creationId xmlns:p14="http://schemas.microsoft.com/office/powerpoint/2010/main" val="17824381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D92F43-7BFC-733E-DA19-6834CEF98309}"/>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FC3FDDF-84A9-861B-A2FE-4AD87FB18CBA}"/>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Coronary Artery Disease</a:t>
            </a:r>
          </a:p>
        </p:txBody>
      </p:sp>
      <p:pic>
        <p:nvPicPr>
          <p:cNvPr id="7" name="Content Placeholder 6">
            <a:extLst>
              <a:ext uri="{FF2B5EF4-FFF2-40B4-BE49-F238E27FC236}">
                <a16:creationId xmlns:a16="http://schemas.microsoft.com/office/drawing/2014/main" id="{03DB007C-2A9A-83AA-CC05-E36E6A2EAE6A}"/>
              </a:ext>
            </a:extLst>
          </p:cNvPr>
          <p:cNvPicPr>
            <a:picLocks noGrp="1" noChangeAspect="1"/>
          </p:cNvPicPr>
          <p:nvPr>
            <p:ph idx="1"/>
          </p:nvPr>
        </p:nvPicPr>
        <p:blipFill>
          <a:blip r:embed="rId2"/>
          <a:stretch>
            <a:fillRect/>
          </a:stretch>
        </p:blipFill>
        <p:spPr>
          <a:xfrm>
            <a:off x="5153510" y="467208"/>
            <a:ext cx="5923584" cy="5923584"/>
          </a:xfrm>
          <a:prstGeom prst="rect">
            <a:avLst/>
          </a:prstGeom>
        </p:spPr>
      </p:pic>
    </p:spTree>
    <p:extLst>
      <p:ext uri="{BB962C8B-B14F-4D97-AF65-F5344CB8AC3E}">
        <p14:creationId xmlns:p14="http://schemas.microsoft.com/office/powerpoint/2010/main" val="27930293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399200-5E1E-0EC1-BF55-2C2CDB524E4A}"/>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Coronary Artery Disease</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A7ECE0B5-97EA-AF11-274A-B523EAA41D1D}"/>
              </a:ext>
            </a:extLst>
          </p:cNvPr>
          <p:cNvPicPr>
            <a:picLocks noGrp="1" noChangeAspect="1"/>
          </p:cNvPicPr>
          <p:nvPr>
            <p:ph idx="1"/>
          </p:nvPr>
        </p:nvPicPr>
        <p:blipFill>
          <a:blip r:embed="rId2"/>
          <a:stretch>
            <a:fillRect/>
          </a:stretch>
        </p:blipFill>
        <p:spPr>
          <a:xfrm>
            <a:off x="4654296" y="1241881"/>
            <a:ext cx="7214616" cy="4346806"/>
          </a:xfrm>
          <a:prstGeom prst="rect">
            <a:avLst/>
          </a:prstGeom>
        </p:spPr>
      </p:pic>
    </p:spTree>
    <p:extLst>
      <p:ext uri="{BB962C8B-B14F-4D97-AF65-F5344CB8AC3E}">
        <p14:creationId xmlns:p14="http://schemas.microsoft.com/office/powerpoint/2010/main" val="3720900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C3D2873-2194-4FB0-BFBA-7E7EEB984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4">
            <a:extLst>
              <a:ext uri="{FF2B5EF4-FFF2-40B4-BE49-F238E27FC236}">
                <a16:creationId xmlns:a16="http://schemas.microsoft.com/office/drawing/2014/main" id="{BAF36652-4309-A09B-704B-70061B37DFFD}"/>
              </a:ext>
            </a:extLst>
          </p:cNvPr>
          <p:cNvPicPr>
            <a:picLocks noChangeAspect="1"/>
          </p:cNvPicPr>
          <p:nvPr/>
        </p:nvPicPr>
        <p:blipFill>
          <a:blip r:embed="rId3"/>
          <a:srcRect t="7361" r="4" b="4"/>
          <a:stretch/>
        </p:blipFill>
        <p:spPr>
          <a:xfrm>
            <a:off x="8529321" y="10"/>
            <a:ext cx="3662680" cy="3401558"/>
          </a:xfrm>
          <a:custGeom>
            <a:avLst/>
            <a:gdLst/>
            <a:ahLst/>
            <a:cxnLst/>
            <a:rect l="l" t="t" r="r" b="b"/>
            <a:pathLst>
              <a:path w="3662680" h="3401568">
                <a:moveTo>
                  <a:pt x="0" y="0"/>
                </a:moveTo>
                <a:lnTo>
                  <a:pt x="3662680" y="0"/>
                </a:lnTo>
                <a:lnTo>
                  <a:pt x="3662680" y="3401568"/>
                </a:lnTo>
                <a:lnTo>
                  <a:pt x="774527" y="3401568"/>
                </a:lnTo>
                <a:lnTo>
                  <a:pt x="769892" y="3133175"/>
                </a:lnTo>
                <a:cubicBezTo>
                  <a:pt x="732577" y="2055441"/>
                  <a:pt x="492520" y="1056020"/>
                  <a:pt x="104445" y="215033"/>
                </a:cubicBezTo>
                <a:close/>
              </a:path>
            </a:pathLst>
          </a:custGeom>
        </p:spPr>
      </p:pic>
      <p:pic>
        <p:nvPicPr>
          <p:cNvPr id="5" name="Content Placeholder 6">
            <a:extLst>
              <a:ext uri="{FF2B5EF4-FFF2-40B4-BE49-F238E27FC236}">
                <a16:creationId xmlns:a16="http://schemas.microsoft.com/office/drawing/2014/main" id="{CA8CC27D-158A-D3FD-8568-C1C96E3D32C3}"/>
              </a:ext>
            </a:extLst>
          </p:cNvPr>
          <p:cNvPicPr>
            <a:picLocks noChangeAspect="1"/>
          </p:cNvPicPr>
          <p:nvPr/>
        </p:nvPicPr>
        <p:blipFill>
          <a:blip r:embed="rId4"/>
          <a:srcRect t="7130" r="-3" b="10268"/>
          <a:stretch/>
        </p:blipFill>
        <p:spPr>
          <a:xfrm>
            <a:off x="5115314" y="10"/>
            <a:ext cx="4118110" cy="3401558"/>
          </a:xfrm>
          <a:custGeom>
            <a:avLst/>
            <a:gdLst/>
            <a:ahLst/>
            <a:cxnLst/>
            <a:rect l="l" t="t" r="r" b="b"/>
            <a:pathLst>
              <a:path w="4118110" h="3401568">
                <a:moveTo>
                  <a:pt x="0" y="0"/>
                </a:moveTo>
                <a:lnTo>
                  <a:pt x="3343575" y="0"/>
                </a:lnTo>
                <a:lnTo>
                  <a:pt x="3448028" y="215050"/>
                </a:lnTo>
                <a:cubicBezTo>
                  <a:pt x="3836103" y="1056037"/>
                  <a:pt x="4076161" y="2055458"/>
                  <a:pt x="4113475" y="3133192"/>
                </a:cubicBezTo>
                <a:lnTo>
                  <a:pt x="4118110" y="3401568"/>
                </a:lnTo>
                <a:lnTo>
                  <a:pt x="801224" y="3401568"/>
                </a:lnTo>
                <a:lnTo>
                  <a:pt x="797493" y="3185579"/>
                </a:lnTo>
                <a:cubicBezTo>
                  <a:pt x="756786" y="2009870"/>
                  <a:pt x="474799" y="927359"/>
                  <a:pt x="22579" y="42066"/>
                </a:cubicBezTo>
                <a:close/>
              </a:path>
            </a:pathLst>
          </a:custGeom>
        </p:spPr>
      </p:pic>
      <p:sp useBgFill="1">
        <p:nvSpPr>
          <p:cNvPr id="13" name="Freeform: Shape 12">
            <a:extLst>
              <a:ext uri="{FF2B5EF4-FFF2-40B4-BE49-F238E27FC236}">
                <a16:creationId xmlns:a16="http://schemas.microsoft.com/office/drawing/2014/main" id="{B228652A-FD81-4A3C-B164-2012BF4EE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927943" cy="6858000"/>
          </a:xfrm>
          <a:custGeom>
            <a:avLst/>
            <a:gdLst>
              <a:gd name="connsiteX0" fmla="*/ 0 w 5927943"/>
              <a:gd name="connsiteY0" fmla="*/ 0 h 6858000"/>
              <a:gd name="connsiteX1" fmla="*/ 5129522 w 5927943"/>
              <a:gd name="connsiteY1" fmla="*/ 0 h 6858000"/>
              <a:gd name="connsiteX2" fmla="*/ 5289639 w 5927943"/>
              <a:gd name="connsiteY2" fmla="*/ 323150 h 6858000"/>
              <a:gd name="connsiteX3" fmla="*/ 5927943 w 5927943"/>
              <a:gd name="connsiteY3" fmla="*/ 3476847 h 6858000"/>
              <a:gd name="connsiteX4" fmla="*/ 5289639 w 5927943"/>
              <a:gd name="connsiteY4" fmla="*/ 6630545 h 6858000"/>
              <a:gd name="connsiteX5" fmla="*/ 5176937 w 5927943"/>
              <a:gd name="connsiteY5" fmla="*/ 6858000 h 6858000"/>
              <a:gd name="connsiteX6" fmla="*/ 0 w 592794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27943" h="6858000">
                <a:moveTo>
                  <a:pt x="0" y="0"/>
                </a:moveTo>
                <a:lnTo>
                  <a:pt x="5129522" y="0"/>
                </a:lnTo>
                <a:lnTo>
                  <a:pt x="5289639" y="323150"/>
                </a:lnTo>
                <a:cubicBezTo>
                  <a:pt x="5692631" y="1223391"/>
                  <a:pt x="5927943" y="2308646"/>
                  <a:pt x="5927943" y="3476847"/>
                </a:cubicBezTo>
                <a:cubicBezTo>
                  <a:pt x="5927943" y="4645048"/>
                  <a:pt x="5692631" y="5730304"/>
                  <a:pt x="5289639" y="6630545"/>
                </a:cubicBezTo>
                <a:lnTo>
                  <a:pt x="5176937"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5" name="Freeform: Shape 14">
            <a:extLst>
              <a:ext uri="{FF2B5EF4-FFF2-40B4-BE49-F238E27FC236}">
                <a16:creationId xmlns:a16="http://schemas.microsoft.com/office/drawing/2014/main" id="{FE8F25D8-4980-4C67-9E0C-7BE94C9CB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917310" cy="6858000"/>
          </a:xfrm>
          <a:custGeom>
            <a:avLst/>
            <a:gdLst>
              <a:gd name="connsiteX0" fmla="*/ 0 w 5917310"/>
              <a:gd name="connsiteY0" fmla="*/ 0 h 6858000"/>
              <a:gd name="connsiteX1" fmla="*/ 5118889 w 5917310"/>
              <a:gd name="connsiteY1" fmla="*/ 0 h 6858000"/>
              <a:gd name="connsiteX2" fmla="*/ 5279006 w 5917310"/>
              <a:gd name="connsiteY2" fmla="*/ 323150 h 6858000"/>
              <a:gd name="connsiteX3" fmla="*/ 5917310 w 5917310"/>
              <a:gd name="connsiteY3" fmla="*/ 3476847 h 6858000"/>
              <a:gd name="connsiteX4" fmla="*/ 5279006 w 5917310"/>
              <a:gd name="connsiteY4" fmla="*/ 6630545 h 6858000"/>
              <a:gd name="connsiteX5" fmla="*/ 5166304 w 5917310"/>
              <a:gd name="connsiteY5" fmla="*/ 6858000 h 6858000"/>
              <a:gd name="connsiteX6" fmla="*/ 0 w 591731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17310" h="6858000">
                <a:moveTo>
                  <a:pt x="0" y="0"/>
                </a:moveTo>
                <a:lnTo>
                  <a:pt x="5118889" y="0"/>
                </a:lnTo>
                <a:lnTo>
                  <a:pt x="5279006" y="323150"/>
                </a:lnTo>
                <a:cubicBezTo>
                  <a:pt x="5681998" y="1223391"/>
                  <a:pt x="5917310" y="2308646"/>
                  <a:pt x="5917310" y="3476847"/>
                </a:cubicBezTo>
                <a:cubicBezTo>
                  <a:pt x="5917310" y="4645048"/>
                  <a:pt x="5681998" y="5730304"/>
                  <a:pt x="5279006" y="6630545"/>
                </a:cubicBezTo>
                <a:lnTo>
                  <a:pt x="5166304"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4F452A0-F848-D01F-B9EE-8B2FB5A5DB9E}"/>
              </a:ext>
            </a:extLst>
          </p:cNvPr>
          <p:cNvSpPr>
            <a:spLocks noGrp="1"/>
          </p:cNvSpPr>
          <p:nvPr>
            <p:ph type="title"/>
          </p:nvPr>
        </p:nvSpPr>
        <p:spPr>
          <a:xfrm>
            <a:off x="438912" y="1527048"/>
            <a:ext cx="5020056" cy="2770632"/>
          </a:xfrm>
        </p:spPr>
        <p:txBody>
          <a:bodyPr vert="horz" lIns="91440" tIns="45720" rIns="91440" bIns="45720" rtlCol="0" anchor="b">
            <a:normAutofit/>
          </a:bodyPr>
          <a:lstStyle/>
          <a:p>
            <a:r>
              <a:rPr lang="en-US" sz="5400" kern="1200">
                <a:solidFill>
                  <a:schemeClr val="tx1"/>
                </a:solidFill>
                <a:latin typeface="+mj-lt"/>
                <a:ea typeface="+mj-ea"/>
                <a:cs typeface="+mj-cs"/>
              </a:rPr>
              <a:t>CAD Current Smoker Cluster</a:t>
            </a:r>
          </a:p>
        </p:txBody>
      </p:sp>
      <p:sp>
        <p:nvSpPr>
          <p:cNvPr id="17" name="Rectangle 16">
            <a:extLst>
              <a:ext uri="{FF2B5EF4-FFF2-40B4-BE49-F238E27FC236}">
                <a16:creationId xmlns:a16="http://schemas.microsoft.com/office/drawing/2014/main" id="{1A214C69-1234-4E5D-91CD-BEA0020425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67989"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F86E49C8-40C0-4E80-BAC0-9A66298F1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098" y="4461119"/>
            <a:ext cx="501907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Content Placeholder 4">
            <a:extLst>
              <a:ext uri="{FF2B5EF4-FFF2-40B4-BE49-F238E27FC236}">
                <a16:creationId xmlns:a16="http://schemas.microsoft.com/office/drawing/2014/main" id="{7C9759F9-2C59-5E9B-E94F-60B4B7486AA9}"/>
              </a:ext>
            </a:extLst>
          </p:cNvPr>
          <p:cNvPicPr>
            <a:picLocks noGrp="1" noChangeAspect="1"/>
          </p:cNvPicPr>
          <p:nvPr>
            <p:ph idx="1"/>
          </p:nvPr>
        </p:nvPicPr>
        <p:blipFill>
          <a:blip r:embed="rId5"/>
          <a:stretch>
            <a:fillRect/>
          </a:stretch>
        </p:blipFill>
        <p:spPr>
          <a:xfrm>
            <a:off x="5115314" y="2478239"/>
            <a:ext cx="7076686" cy="4269979"/>
          </a:xfrm>
        </p:spPr>
      </p:pic>
      <p:pic>
        <p:nvPicPr>
          <p:cNvPr id="8" name="Content Placeholder 4">
            <a:extLst>
              <a:ext uri="{FF2B5EF4-FFF2-40B4-BE49-F238E27FC236}">
                <a16:creationId xmlns:a16="http://schemas.microsoft.com/office/drawing/2014/main" id="{F0392058-48B9-458E-FEC9-9327F5299960}"/>
              </a:ext>
            </a:extLst>
          </p:cNvPr>
          <p:cNvPicPr>
            <a:picLocks noChangeAspect="1"/>
          </p:cNvPicPr>
          <p:nvPr/>
        </p:nvPicPr>
        <p:blipFill>
          <a:blip r:embed="rId3"/>
          <a:stretch>
            <a:fillRect/>
          </a:stretch>
        </p:blipFill>
        <p:spPr>
          <a:xfrm>
            <a:off x="5025006" y="-2"/>
            <a:ext cx="3752988" cy="3926249"/>
          </a:xfrm>
          <a:prstGeom prst="rect">
            <a:avLst/>
          </a:prstGeom>
        </p:spPr>
      </p:pic>
      <p:pic>
        <p:nvPicPr>
          <p:cNvPr id="9" name="Content Placeholder 6">
            <a:extLst>
              <a:ext uri="{FF2B5EF4-FFF2-40B4-BE49-F238E27FC236}">
                <a16:creationId xmlns:a16="http://schemas.microsoft.com/office/drawing/2014/main" id="{7D8506B6-3979-9A0F-3B24-C9FECA57AFAB}"/>
              </a:ext>
            </a:extLst>
          </p:cNvPr>
          <p:cNvPicPr>
            <a:picLocks noChangeAspect="1"/>
          </p:cNvPicPr>
          <p:nvPr/>
        </p:nvPicPr>
        <p:blipFill>
          <a:blip r:embed="rId4"/>
          <a:stretch>
            <a:fillRect/>
          </a:stretch>
        </p:blipFill>
        <p:spPr>
          <a:xfrm>
            <a:off x="8777994" y="-1"/>
            <a:ext cx="3414004" cy="3933372"/>
          </a:xfrm>
          <a:prstGeom prst="rect">
            <a:avLst/>
          </a:prstGeom>
        </p:spPr>
      </p:pic>
    </p:spTree>
    <p:extLst>
      <p:ext uri="{BB962C8B-B14F-4D97-AF65-F5344CB8AC3E}">
        <p14:creationId xmlns:p14="http://schemas.microsoft.com/office/powerpoint/2010/main" val="2497484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F1CF8E-3954-CBAA-69AA-D440DFEF6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C1031-E8D8-144E-83B0-E6E31B645FA2}"/>
              </a:ext>
            </a:extLst>
          </p:cNvPr>
          <p:cNvSpPr>
            <a:spLocks noGrp="1"/>
          </p:cNvSpPr>
          <p:nvPr>
            <p:ph type="title"/>
          </p:nvPr>
        </p:nvSpPr>
        <p:spPr>
          <a:xfrm>
            <a:off x="838200" y="1175335"/>
            <a:ext cx="4654339" cy="2495971"/>
          </a:xfrm>
        </p:spPr>
        <p:txBody>
          <a:bodyPr vert="horz" lIns="91440" tIns="45720" rIns="91440" bIns="45720" rtlCol="0" anchor="t">
            <a:normAutofit/>
          </a:bodyPr>
          <a:lstStyle/>
          <a:p>
            <a:br>
              <a:rPr lang="en-US" sz="4000"/>
            </a:br>
            <a:r>
              <a:rPr lang="en-US" sz="4000"/>
              <a:t>Practical Example 2</a:t>
            </a:r>
            <a:br>
              <a:rPr lang="en-US" sz="4000"/>
            </a:br>
            <a:br>
              <a:rPr lang="en-US" sz="4000"/>
            </a:br>
            <a:r>
              <a:rPr lang="en-US" sz="4000"/>
              <a:t>Penguins</a:t>
            </a:r>
            <a:endParaRPr lang="en-US" sz="4000" i="1"/>
          </a:p>
        </p:txBody>
      </p:sp>
      <p:pic>
        <p:nvPicPr>
          <p:cNvPr id="23" name="Picture 22" descr="Emperor penguins on ice">
            <a:extLst>
              <a:ext uri="{FF2B5EF4-FFF2-40B4-BE49-F238E27FC236}">
                <a16:creationId xmlns:a16="http://schemas.microsoft.com/office/drawing/2014/main" id="{03FA74C5-AD14-6185-ED50-2B364D3B4068}"/>
              </a:ext>
            </a:extLst>
          </p:cNvPr>
          <p:cNvPicPr>
            <a:picLocks noChangeAspect="1"/>
          </p:cNvPicPr>
          <p:nvPr/>
        </p:nvPicPr>
        <p:blipFill>
          <a:blip r:embed="rId2"/>
          <a:srcRect l="8707" r="37244" b="-2"/>
          <a:stretch/>
        </p:blipFill>
        <p:spPr>
          <a:xfrm>
            <a:off x="6638988" y="-1"/>
            <a:ext cx="5553012" cy="6858001"/>
          </a:xfrm>
          <a:prstGeom prst="rect">
            <a:avLst/>
          </a:prstGeom>
        </p:spPr>
      </p:pic>
      <p:grpSp>
        <p:nvGrpSpPr>
          <p:cNvPr id="27" name="Group 26">
            <a:extLst>
              <a:ext uri="{FF2B5EF4-FFF2-40B4-BE49-F238E27FC236}">
                <a16:creationId xmlns:a16="http://schemas.microsoft.com/office/drawing/2014/main" id="{F2C2385A-6F3A-07EF-D18E-AA9E680CE4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28" name="Rectangle 27">
              <a:extLst>
                <a:ext uri="{FF2B5EF4-FFF2-40B4-BE49-F238E27FC236}">
                  <a16:creationId xmlns:a16="http://schemas.microsoft.com/office/drawing/2014/main" id="{6794B55E-EB5A-B230-96EA-54C8AEB195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F58827A-DDAE-A009-92D2-4F4452814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89749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E734232-46A8-4884-9A59-B7E3BA4BC3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0B68623-AA50-E365-5E44-B2F6ACEC1534}"/>
              </a:ext>
            </a:extLst>
          </p:cNvPr>
          <p:cNvPicPr>
            <a:picLocks noChangeAspect="1"/>
          </p:cNvPicPr>
          <p:nvPr/>
        </p:nvPicPr>
        <p:blipFill>
          <a:blip r:embed="rId2"/>
          <a:srcRect r="1" b="13133"/>
          <a:stretch/>
        </p:blipFill>
        <p:spPr>
          <a:xfrm>
            <a:off x="1" y="1"/>
            <a:ext cx="4038603" cy="5271924"/>
          </a:xfrm>
          <a:prstGeom prst="rect">
            <a:avLst/>
          </a:prstGeom>
        </p:spPr>
      </p:pic>
      <p:pic>
        <p:nvPicPr>
          <p:cNvPr id="5" name="Picture 4">
            <a:extLst>
              <a:ext uri="{FF2B5EF4-FFF2-40B4-BE49-F238E27FC236}">
                <a16:creationId xmlns:a16="http://schemas.microsoft.com/office/drawing/2014/main" id="{D36BCF5F-9269-DA39-1AC4-D4D678F30819}"/>
              </a:ext>
            </a:extLst>
          </p:cNvPr>
          <p:cNvPicPr>
            <a:picLocks noChangeAspect="1"/>
          </p:cNvPicPr>
          <p:nvPr/>
        </p:nvPicPr>
        <p:blipFill>
          <a:blip r:embed="rId3"/>
          <a:srcRect r="-1" b="2636"/>
          <a:stretch/>
        </p:blipFill>
        <p:spPr>
          <a:xfrm>
            <a:off x="4038600" y="1"/>
            <a:ext cx="4076700" cy="5271924"/>
          </a:xfrm>
          <a:prstGeom prst="rect">
            <a:avLst/>
          </a:prstGeom>
        </p:spPr>
      </p:pic>
      <p:pic>
        <p:nvPicPr>
          <p:cNvPr id="4" name="Picture 3">
            <a:extLst>
              <a:ext uri="{FF2B5EF4-FFF2-40B4-BE49-F238E27FC236}">
                <a16:creationId xmlns:a16="http://schemas.microsoft.com/office/drawing/2014/main" id="{23F67C91-B026-3BCF-5915-6C6D0E7FDF25}"/>
              </a:ext>
            </a:extLst>
          </p:cNvPr>
          <p:cNvPicPr>
            <a:picLocks noChangeAspect="1"/>
          </p:cNvPicPr>
          <p:nvPr/>
        </p:nvPicPr>
        <p:blipFill>
          <a:blip r:embed="rId4"/>
          <a:srcRect l="4429" r="18243" b="1"/>
          <a:stretch/>
        </p:blipFill>
        <p:spPr>
          <a:xfrm>
            <a:off x="8115292" y="1"/>
            <a:ext cx="4076700" cy="5271924"/>
          </a:xfrm>
          <a:prstGeom prst="rect">
            <a:avLst/>
          </a:prstGeom>
        </p:spPr>
      </p:pic>
      <p:sp>
        <p:nvSpPr>
          <p:cNvPr id="13" name="Rectangle 12">
            <a:extLst>
              <a:ext uri="{FF2B5EF4-FFF2-40B4-BE49-F238E27FC236}">
                <a16:creationId xmlns:a16="http://schemas.microsoft.com/office/drawing/2014/main" id="{D346B8D2-3218-41A5-B817-9ABFB108C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5260724"/>
            <a:ext cx="12191998" cy="1595775"/>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1E014CA-4279-4E70-AC56-0BBEBF92C2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2225"/>
            <a:ext cx="8115300" cy="1594275"/>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8B3DCF8-9D1E-4907-B1EC-98D11BC16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36" y="5262226"/>
            <a:ext cx="12196636" cy="1594274"/>
          </a:xfrm>
          <a:prstGeom prst="rect">
            <a:avLst/>
          </a:prstGeom>
          <a:gradFill>
            <a:gsLst>
              <a:gs pos="0">
                <a:srgbClr val="000000">
                  <a:alpha val="71765"/>
                </a:srgbClr>
              </a:gs>
              <a:gs pos="100000">
                <a:schemeClr val="accent1">
                  <a:alpha val="24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8D6B9EF-FF47-487C-8B82-F9F2B9A54A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6" y="5262224"/>
            <a:ext cx="4076697" cy="1594275"/>
          </a:xfrm>
          <a:prstGeom prst="rect">
            <a:avLst/>
          </a:prstGeom>
          <a:gradFill>
            <a:gsLst>
              <a:gs pos="19000">
                <a:srgbClr val="000000">
                  <a:alpha val="62000"/>
                </a:srgbClr>
              </a:gs>
              <a:gs pos="100000">
                <a:schemeClr val="accent1">
                  <a:lumMod val="75000"/>
                  <a:alpha val="44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717D090-7948-433A-AED2-EA1A98E6F0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291050" y="-40689"/>
            <a:ext cx="1594274" cy="12192000"/>
          </a:xfrm>
          <a:prstGeom prst="rect">
            <a:avLst/>
          </a:prstGeom>
          <a:gradFill>
            <a:gsLst>
              <a:gs pos="16000">
                <a:schemeClr val="accent1">
                  <a:alpha val="0"/>
                </a:schemeClr>
              </a:gs>
              <a:gs pos="99000">
                <a:srgbClr val="000000">
                  <a:alpha val="70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618C3E8-8260-4E23-8BA1-C2C3E80BEF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64" y="5282206"/>
            <a:ext cx="12192264" cy="1153314"/>
          </a:xfrm>
          <a:prstGeom prst="rect">
            <a:avLst/>
          </a:prstGeom>
          <a:gradFill>
            <a:gsLst>
              <a:gs pos="28000">
                <a:schemeClr val="accent1">
                  <a:lumMod val="75000"/>
                  <a:alpha val="11000"/>
                </a:schemeClr>
              </a:gs>
              <a:gs pos="100000">
                <a:schemeClr val="accent1">
                  <a:alpha val="26000"/>
                </a:scheme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BE141E1-02A3-BF42-7528-F279B7626A48}"/>
              </a:ext>
            </a:extLst>
          </p:cNvPr>
          <p:cNvSpPr>
            <a:spLocks noGrp="1"/>
          </p:cNvSpPr>
          <p:nvPr>
            <p:ph type="title"/>
          </p:nvPr>
        </p:nvSpPr>
        <p:spPr>
          <a:xfrm>
            <a:off x="699713" y="5588000"/>
            <a:ext cx="6867277" cy="920590"/>
          </a:xfrm>
        </p:spPr>
        <p:txBody>
          <a:bodyPr vert="horz" lIns="91440" tIns="45720" rIns="91440" bIns="45720" rtlCol="0" anchor="ctr">
            <a:normAutofit/>
          </a:bodyPr>
          <a:lstStyle/>
          <a:p>
            <a:r>
              <a:rPr lang="en-US" sz="4000" kern="1200" dirty="0" err="1">
                <a:solidFill>
                  <a:srgbClr val="FFFFFF"/>
                </a:solidFill>
                <a:latin typeface="+mj-lt"/>
                <a:ea typeface="+mj-ea"/>
                <a:cs typeface="+mj-cs"/>
              </a:rPr>
              <a:t>Pengins</a:t>
            </a:r>
            <a:endParaRPr lang="en-US" sz="4000" kern="1200" dirty="0">
              <a:solidFill>
                <a:srgbClr val="FFFFFF"/>
              </a:solidFill>
              <a:latin typeface="+mj-lt"/>
              <a:ea typeface="+mj-ea"/>
              <a:cs typeface="+mj-cs"/>
            </a:endParaRPr>
          </a:p>
        </p:txBody>
      </p:sp>
      <p:sp>
        <p:nvSpPr>
          <p:cNvPr id="3" name="TextBox 2">
            <a:extLst>
              <a:ext uri="{FF2B5EF4-FFF2-40B4-BE49-F238E27FC236}">
                <a16:creationId xmlns:a16="http://schemas.microsoft.com/office/drawing/2014/main" id="{1F557458-5F97-4F30-F178-35AC5E7EB776}"/>
              </a:ext>
            </a:extLst>
          </p:cNvPr>
          <p:cNvSpPr txBox="1"/>
          <p:nvPr/>
        </p:nvSpPr>
        <p:spPr>
          <a:xfrm>
            <a:off x="8439149" y="5613400"/>
            <a:ext cx="3256019" cy="869790"/>
          </a:xfrm>
          <a:prstGeom prst="rect">
            <a:avLst/>
          </a:prstGeom>
        </p:spPr>
        <p:txBody>
          <a:bodyPr vert="horz" lIns="91440" tIns="45720" rIns="91440" bIns="45720" rtlCol="0" anchor="ctr">
            <a:normAutofit fontScale="85000" lnSpcReduction="10000"/>
          </a:bodyPr>
          <a:lstStyle/>
          <a:p>
            <a:pPr>
              <a:lnSpc>
                <a:spcPct val="90000"/>
              </a:lnSpc>
              <a:spcBef>
                <a:spcPts val="1000"/>
              </a:spcBef>
            </a:pPr>
            <a:r>
              <a:rPr lang="en-US" sz="1700" kern="1200" dirty="0">
                <a:solidFill>
                  <a:srgbClr val="FFFFFF"/>
                </a:solidFill>
                <a:latin typeface="+mn-lt"/>
                <a:ea typeface="+mn-ea"/>
                <a:cs typeface="+mn-cs"/>
              </a:rPr>
              <a:t>1. Chinstrap</a:t>
            </a:r>
          </a:p>
          <a:p>
            <a:pPr>
              <a:lnSpc>
                <a:spcPct val="90000"/>
              </a:lnSpc>
              <a:spcBef>
                <a:spcPts val="1000"/>
              </a:spcBef>
            </a:pPr>
            <a:r>
              <a:rPr lang="en-US" sz="1700" dirty="0">
                <a:solidFill>
                  <a:srgbClr val="FFFFFF"/>
                </a:solidFill>
              </a:rPr>
              <a:t>2. Adelie</a:t>
            </a:r>
          </a:p>
          <a:p>
            <a:pPr>
              <a:lnSpc>
                <a:spcPct val="90000"/>
              </a:lnSpc>
              <a:spcBef>
                <a:spcPts val="1000"/>
              </a:spcBef>
            </a:pPr>
            <a:r>
              <a:rPr lang="en-US" sz="1700" kern="1200" dirty="0">
                <a:solidFill>
                  <a:srgbClr val="FFFFFF"/>
                </a:solidFill>
                <a:latin typeface="+mn-lt"/>
                <a:ea typeface="+mn-ea"/>
                <a:cs typeface="+mn-cs"/>
              </a:rPr>
              <a:t>3. Gentoo</a:t>
            </a:r>
          </a:p>
        </p:txBody>
      </p:sp>
    </p:spTree>
    <p:extLst>
      <p:ext uri="{BB962C8B-B14F-4D97-AF65-F5344CB8AC3E}">
        <p14:creationId xmlns:p14="http://schemas.microsoft.com/office/powerpoint/2010/main" val="4177245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Shape 2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BF5482E-1DA1-106F-33F7-FF9A99C0465A}"/>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Penguins in UMAP Space</a:t>
            </a:r>
          </a:p>
        </p:txBody>
      </p:sp>
      <p:pic>
        <p:nvPicPr>
          <p:cNvPr id="4" name="Picture 3">
            <a:extLst>
              <a:ext uri="{FF2B5EF4-FFF2-40B4-BE49-F238E27FC236}">
                <a16:creationId xmlns:a16="http://schemas.microsoft.com/office/drawing/2014/main" id="{35703541-F65D-83A7-DF8A-645D95269E99}"/>
              </a:ext>
            </a:extLst>
          </p:cNvPr>
          <p:cNvPicPr>
            <a:picLocks noChangeAspect="1"/>
          </p:cNvPicPr>
          <p:nvPr/>
        </p:nvPicPr>
        <p:blipFill>
          <a:blip r:embed="rId2"/>
          <a:stretch>
            <a:fillRect/>
          </a:stretch>
        </p:blipFill>
        <p:spPr>
          <a:xfrm>
            <a:off x="5153510" y="467208"/>
            <a:ext cx="5923584" cy="5923584"/>
          </a:xfrm>
          <a:prstGeom prst="rect">
            <a:avLst/>
          </a:prstGeom>
        </p:spPr>
      </p:pic>
    </p:spTree>
    <p:extLst>
      <p:ext uri="{BB962C8B-B14F-4D97-AF65-F5344CB8AC3E}">
        <p14:creationId xmlns:p14="http://schemas.microsoft.com/office/powerpoint/2010/main" val="18557634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87917E-AA21-1D36-67A0-8AF0D6B45CC3}"/>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Shape 2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0E93E34-D694-42EF-0170-F6C8C557E9B4}"/>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Gentoo Cluster</a:t>
            </a:r>
          </a:p>
        </p:txBody>
      </p:sp>
      <p:pic>
        <p:nvPicPr>
          <p:cNvPr id="5" name="Picture 4">
            <a:extLst>
              <a:ext uri="{FF2B5EF4-FFF2-40B4-BE49-F238E27FC236}">
                <a16:creationId xmlns:a16="http://schemas.microsoft.com/office/drawing/2014/main" id="{780AB57F-4E29-493C-B698-A2448EF601BB}"/>
              </a:ext>
            </a:extLst>
          </p:cNvPr>
          <p:cNvPicPr>
            <a:picLocks noChangeAspect="1"/>
          </p:cNvPicPr>
          <p:nvPr/>
        </p:nvPicPr>
        <p:blipFill>
          <a:blip r:embed="rId2"/>
          <a:stretch>
            <a:fillRect/>
          </a:stretch>
        </p:blipFill>
        <p:spPr>
          <a:xfrm>
            <a:off x="5160915" y="467208"/>
            <a:ext cx="5908773" cy="5923584"/>
          </a:xfrm>
          <a:prstGeom prst="rect">
            <a:avLst/>
          </a:prstGeom>
        </p:spPr>
      </p:pic>
    </p:spTree>
    <p:extLst>
      <p:ext uri="{BB962C8B-B14F-4D97-AF65-F5344CB8AC3E}">
        <p14:creationId xmlns:p14="http://schemas.microsoft.com/office/powerpoint/2010/main" val="4113426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0B13C7-2239-0B42-97E8-4D8501A18E9A}"/>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8BA1E6-796D-8447-C2AF-A170390B931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Year Separated Gentoo Cluster</a:t>
            </a:r>
          </a:p>
        </p:txBody>
      </p:sp>
      <p:pic>
        <p:nvPicPr>
          <p:cNvPr id="4" name="Picture 3">
            <a:extLst>
              <a:ext uri="{FF2B5EF4-FFF2-40B4-BE49-F238E27FC236}">
                <a16:creationId xmlns:a16="http://schemas.microsoft.com/office/drawing/2014/main" id="{B466E4DD-DF5C-4C37-D78A-13F865738B5C}"/>
              </a:ext>
            </a:extLst>
          </p:cNvPr>
          <p:cNvPicPr>
            <a:picLocks noChangeAspect="1"/>
          </p:cNvPicPr>
          <p:nvPr/>
        </p:nvPicPr>
        <p:blipFill>
          <a:blip r:embed="rId2"/>
          <a:stretch>
            <a:fillRect/>
          </a:stretch>
        </p:blipFill>
        <p:spPr>
          <a:xfrm>
            <a:off x="1036724" y="1966293"/>
            <a:ext cx="10118551" cy="4452160"/>
          </a:xfrm>
          <a:prstGeom prst="rect">
            <a:avLst/>
          </a:prstGeom>
        </p:spPr>
      </p:pic>
    </p:spTree>
    <p:extLst>
      <p:ext uri="{BB962C8B-B14F-4D97-AF65-F5344CB8AC3E}">
        <p14:creationId xmlns:p14="http://schemas.microsoft.com/office/powerpoint/2010/main" val="3168034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EA5262-1B95-4518-6B83-A623C4FC25EE}"/>
              </a:ext>
            </a:extLst>
          </p:cNvPr>
          <p:cNvPicPr>
            <a:picLocks noChangeAspect="1"/>
          </p:cNvPicPr>
          <p:nvPr/>
        </p:nvPicPr>
        <p:blipFill>
          <a:blip r:embed="rId3"/>
          <a:stretch>
            <a:fillRect/>
          </a:stretch>
        </p:blipFill>
        <p:spPr>
          <a:xfrm>
            <a:off x="5384800" y="2717800"/>
            <a:ext cx="1422400" cy="1422400"/>
          </a:xfrm>
          <a:prstGeom prst="rect">
            <a:avLst/>
          </a:prstGeom>
        </p:spPr>
      </p:pic>
    </p:spTree>
    <p:extLst>
      <p:ext uri="{BB962C8B-B14F-4D97-AF65-F5344CB8AC3E}">
        <p14:creationId xmlns:p14="http://schemas.microsoft.com/office/powerpoint/2010/main" val="2584364429"/>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301</TotalTime>
  <Words>532</Words>
  <Application>Microsoft Macintosh PowerPoint</Application>
  <PresentationFormat>Widescreen</PresentationFormat>
  <Paragraphs>82</Paragraphs>
  <Slides>30</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Aptos</vt:lpstr>
      <vt:lpstr>Aptos Display</vt:lpstr>
      <vt:lpstr>Arial</vt:lpstr>
      <vt:lpstr>Calibri</vt:lpstr>
      <vt:lpstr>Office Theme</vt:lpstr>
      <vt:lpstr>UMAP – Explainable Boosting Machine (EBM)</vt:lpstr>
      <vt:lpstr>Motivation</vt:lpstr>
      <vt:lpstr>Motivation</vt:lpstr>
      <vt:lpstr>Motivation</vt:lpstr>
      <vt:lpstr>Review of Uniform Manifold Approximation Projection</vt:lpstr>
      <vt:lpstr>PowerPoint Presentation</vt:lpstr>
      <vt:lpstr>PowerPoint Presentation</vt:lpstr>
      <vt:lpstr>PowerPoint Presentation</vt:lpstr>
      <vt:lpstr>PowerPoint Presentation</vt:lpstr>
      <vt:lpstr>Enter: Sandman  Explainable Boosting Machine</vt:lpstr>
      <vt:lpstr>EBM </vt:lpstr>
      <vt:lpstr>Insulin / Skin Thick Cluster</vt:lpstr>
      <vt:lpstr>PowerPoint Presentation</vt:lpstr>
      <vt:lpstr>DEMO</vt:lpstr>
      <vt:lpstr>3D Classification DR</vt:lpstr>
      <vt:lpstr>3D Classification DR</vt:lpstr>
      <vt:lpstr>3D Classification DR</vt:lpstr>
      <vt:lpstr>3D Classification DR</vt:lpstr>
      <vt:lpstr>3D Classification DR</vt:lpstr>
      <vt:lpstr> Practical Example 1  Coronary Artery Disease</vt:lpstr>
      <vt:lpstr>Coronary Artery Disease</vt:lpstr>
      <vt:lpstr>Coronary Artery Disease</vt:lpstr>
      <vt:lpstr>Coronary Artery Disease</vt:lpstr>
      <vt:lpstr>CAD Current Smoker Cluster</vt:lpstr>
      <vt:lpstr> Practical Example 2  Penguins</vt:lpstr>
      <vt:lpstr>Pengins</vt:lpstr>
      <vt:lpstr>Penguins in UMAP Space</vt:lpstr>
      <vt:lpstr>Gentoo Cluster</vt:lpstr>
      <vt:lpstr>Year Separated Gentoo Cluster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Olson, Aidan W</dc:creator>
  <cp:lastModifiedBy>Olson, Aidan W</cp:lastModifiedBy>
  <cp:revision>3</cp:revision>
  <dcterms:created xsi:type="dcterms:W3CDTF">2025-04-28T03:53:30Z</dcterms:created>
  <dcterms:modified xsi:type="dcterms:W3CDTF">2025-04-30T05:09:45Z</dcterms:modified>
</cp:coreProperties>
</file>